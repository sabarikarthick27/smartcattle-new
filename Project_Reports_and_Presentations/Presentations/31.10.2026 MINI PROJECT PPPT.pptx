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71" r:id="rId14"/>
    <p:sldId id="269" r:id="rId15"/>
    <p:sldId id="270" r:id="rId16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3306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CB6B-B384-B63C-E6B3-70D7C6E0F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5396A-6A6E-FD2F-135E-54C74A5AF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90431-2646-39AE-5B70-75072E864E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E122C2-4810-46D2-89A2-14EBC0D40961}" type="datetime1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570FC-F0E0-A8BB-01C4-9A869161D0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E2177-A0F4-2EC9-3F74-9B918012C8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62323-F767-4984-DB3E-9AF48914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9EC59-F5BB-ABAC-2505-365B04285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0A65A-B2A2-895A-BBC5-8BD8B928BDA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24BDE86-EDAA-4F84-8673-E7BB0683A4F7}" type="datetime1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6C835-ECA6-955F-C13F-B7B7D3BCB0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318D8-32C6-872F-1062-BB0995AFF8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41140-3A67-3CB5-B87C-91E440C8F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9AB90-23C1-EF9D-EA7B-94812F45B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936AF-022E-3138-70AD-8FD6704E8E2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D2F39BE-13B1-4CC6-B136-BCD44CD778BD}" type="datetime1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A8139-F08F-EF16-C3D2-47BBE6AEC3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08CDB-BAB6-82BD-E8AD-6204110B98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857E8-C7FF-7D07-D10D-AD74E50A9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14AEB-EAD4-F1F3-09AB-7C79C3EC0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64CD8-096B-5FF2-16A2-0288833EFE2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DD45E-F94D-8C02-4756-2DE0F015A7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A506883-6448-457C-B56F-E31A4C82733F}" type="datetime1">
              <a:t>10/31/2026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1BB58-2F28-0954-0006-EF63C4D6F2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141D8-8632-826F-6108-C63D3779D0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F1C5-351C-FF0F-4338-E296EA0DD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F800C-A22E-07E4-ACA7-1BCA7A640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9109E-4EED-AF9F-E4CC-A6BAF3593DC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1F598-7281-8993-86CE-12E794B7E4F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4B5926-C830-F889-52FD-11A49525F0C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A8871D-0C56-66EF-5227-AF00D2C10AF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A816C9-4412-4B42-8150-7782C059C0A5}" type="datetime1">
              <a:t>10/31/2026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55ECAC-8541-7701-6CBF-C529914300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83F4D3-1374-F288-6B25-C2F75408CB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9B7B-E72F-0669-9EF9-0D7AFEE02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E10186-1D54-8984-1D4F-E8CF8D46FA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E0EB682-B852-4724-B44C-52FB3AA0E5E8}" type="datetime1">
              <a:t>10/31/2026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5DFF5-64AE-6089-5338-3F391FF5E42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7E70BE-9463-6277-FFA7-93A4CAF741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13697-BB8B-148B-CF69-4037E1FF629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4FD49F2-F942-4B20-AFC5-0E3AD4B7694F}" type="datetime1">
              <a:t>10/31/2026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86B66B-09BC-B532-2E93-D79A1B7BB5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E936B-7931-3A83-AB29-ECEAECFA3C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1CC7B-2812-6839-E0D8-139C0D050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1E903-3A28-0F27-45D8-D2B7B0D3D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DD839-1AE7-A11E-874E-C48E74BEF67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581AE-9EBD-8F1F-10EE-19CC728C1D3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224F94-2DD5-4CDE-BF50-493F2A3266D7}" type="datetime1">
              <a:t>10/31/2026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44418-1993-F843-348C-42E871BB4E5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F6435-C09E-7D13-4F30-508D77CE53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43CD1-5410-1DA9-7228-B2F018E7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D01CA9-B7C7-25AD-3E52-2F3724315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427CD-AF08-3726-8FAA-A57C0064361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0F8AC-9193-3066-579C-5D371F128C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9D4F964-07F3-48B0-9FEC-183785D2821F}" type="datetime1">
              <a:t>10/31/2026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4E56E-7994-6879-393B-FB1D8179BC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73E1B-ACEA-671B-9925-98DDD4FAF6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3DC8-4DED-7E64-5035-8876855E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59E2D9-241D-EEDB-63A9-B2A35C9BE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493B7-E45B-1998-1F3A-78743F9FD9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4B74B32-A9E9-4276-83A7-902B7F400383}" type="datetime1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7813D-479D-AF61-49FB-BA944D6910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85E31-541B-32EB-2A5E-5FC484A1EB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5D4A72-8FC8-9FFA-D79F-1B931E3FD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57D4D-DE4F-040D-4D5E-3046AFB04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28EC-F0C7-659F-D01A-C22DB719AF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EF84DC-9173-4658-B3EA-269020D94500}" type="datetime1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EEA2-E42A-72B3-2DA9-F7E5ADD6D1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E1EB3-A802-EFC6-7F9A-7F27D9085D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A08FA2-6E03-4978-AC29-B1ACFE8A3E2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1894CF-7A3B-86AF-DA5E-FE17EDF8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184D8-6BAE-2DDC-B3F5-B2B6DAD44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A6D96-2E95-9CD4-FCD4-89256033E69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D9282-2D87-4F06-BAC4-DC8B14CE8012}" type="datetime1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DBF4B-1096-A70D-93E6-D7C942169C0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29B82-16DD-C092-3F81-633D338DBE9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08FA2-6E03-4978-AC29-B1ACFE8A3E2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2C082-4783-3F0B-9EC6-25645937E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3671" y="0"/>
            <a:ext cx="8279129" cy="112236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anchor="ctr">
            <a:no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Department of Information Technology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EFCD3-3C75-35E2-D6EC-2AFC39620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99382"/>
            <a:ext cx="12191999" cy="2115533"/>
          </a:xfrm>
        </p:spPr>
        <p:txBody>
          <a:bodyPr>
            <a:normAutofit/>
          </a:bodyPr>
          <a:lstStyle/>
          <a:p>
            <a:pPr>
              <a:buNone/>
              <a:defRPr sz="28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QR-BASED CATTLE MANAGEMENT SYSTEM:</a:t>
            </a:r>
          </a:p>
          <a:p>
            <a:pPr>
              <a:buNone/>
              <a:defRPr sz="28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PLATFORM FOR PERSONALIZED HEALTH MONITORING USING CHDI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95AD99-B71A-4AFE-A3EC-EAD711F3B2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2693671" cy="11223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87B0-2C3A-FA84-0969-EAACF959DDFB}"/>
              </a:ext>
            </a:extLst>
          </p:cNvPr>
          <p:cNvSpPr>
            <a:spLocks noGrp="1"/>
          </p:cNvSpPr>
          <p:nvPr/>
        </p:nvSpPr>
        <p:spPr>
          <a:xfrm>
            <a:off x="691284" y="4735488"/>
            <a:ext cx="4254342" cy="163121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  <a:defRPr sz="15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Guide:</a:t>
            </a:r>
          </a:p>
          <a:p>
            <a:pPr>
              <a:buNone/>
              <a:defRPr sz="15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J. Deepika</a:t>
            </a:r>
          </a:p>
          <a:p>
            <a:pPr>
              <a:buNone/>
              <a:defRPr sz="15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>
              <a:buNone/>
              <a:defRPr sz="15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  <a:defRPr sz="15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6C4D5-4260-EE20-5032-89C70841E0D2}"/>
              </a:ext>
            </a:extLst>
          </p:cNvPr>
          <p:cNvSpPr>
            <a:spLocks noGrp="1"/>
          </p:cNvSpPr>
          <p:nvPr/>
        </p:nvSpPr>
        <p:spPr>
          <a:xfrm>
            <a:off x="7944465" y="4411366"/>
            <a:ext cx="3942735" cy="193899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Team Members:</a:t>
            </a:r>
          </a:p>
          <a:p>
            <a: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Sabari Karthick A (61782323110093)</a:t>
            </a:r>
          </a:p>
          <a:p>
            <a: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Sivanarasimman</a:t>
            </a: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 (61782323110103)</a:t>
            </a:r>
          </a:p>
          <a:p>
            <a: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Sujeeth Y R (61782323110107)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F2885A-DAA8-47D7-A705-583EB0746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0"/>
            <a:ext cx="1219199" cy="121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16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35BF5-1452-0F40-5060-BBF6D5B6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8A0E4-B4B7-4C97-19C6-AB43299E6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>
                <a:solidFill>
                  <a:srgbClr val="000000"/>
                </a:solidFill>
              </a:defRPr>
            </a:pPr>
            <a:endParaRPr dirty="0"/>
          </a:p>
          <a:p>
            <a:pPr>
              <a:defRPr>
                <a:solidFill>
                  <a:srgbClr val="000000"/>
                </a:solidFill>
              </a:defRPr>
            </a:pPr>
            <a:endParaRPr dirty="0"/>
          </a:p>
          <a:p>
            <a:pPr marL="0" indent="0">
              <a:buNone/>
              <a:defRPr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CAC99-F55F-638C-3095-FC6C74D64C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000000"/>
                </a:solidFill>
              </a:rP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BB4F7-214D-32C8-2ACB-F479653BFB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fld id="{B6A08FA2-6E03-4978-AC29-B1ACFE8A3E2D}" type="slidenum">
              <a:rPr/>
              <a:t>2</a:t>
            </a:fld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119F50-099F-4EFE-8943-4CD1A115A62A}"/>
              </a:ext>
            </a:extLst>
          </p:cNvPr>
          <p:cNvSpPr>
            <a:spLocks noGrp="1"/>
          </p:cNvSpPr>
          <p:nvPr/>
        </p:nvSpPr>
        <p:spPr>
          <a:xfrm>
            <a:off x="830826" y="1600256"/>
            <a:ext cx="10469880" cy="230216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  <a:defRPr sz="1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Smallholder dairy farms need affordable tools for animal identification and  health monitoring. This project presents a  QR cattle management platform that links each animal to a digital profile and centralized health records. Its Composite Health Deviation Index (CHDI) evaluates body weight, feed intake, milk production and body temperature against an individual 14-day rolling baseline using multivariate </a:t>
            </a:r>
            <a:r>
              <a:rPr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Mahalanobis</a:t>
            </a: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distance. Data-sufficiency checks, trend analysis and feature attribution support more meaningful alerts, while role-based interfaces connect farmers, veterinarians and administrators.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435A18F-A516-4C12-A50A-A05B34329ACB}"/>
              </a:ext>
            </a:extLst>
          </p:cNvPr>
          <p:cNvSpPr>
            <a:spLocks noGrp="1"/>
          </p:cNvSpPr>
          <p:nvPr/>
        </p:nvSpPr>
        <p:spPr>
          <a:xfrm>
            <a:off x="960120" y="4160520"/>
            <a:ext cx="3063240" cy="132588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77892-E280-4D68-8408-0843B33241A8}"/>
              </a:ext>
            </a:extLst>
          </p:cNvPr>
          <p:cNvSpPr>
            <a:spLocks noGrp="1"/>
          </p:cNvSpPr>
          <p:nvPr/>
        </p:nvSpPr>
        <p:spPr>
          <a:xfrm>
            <a:off x="1069848" y="4233672"/>
            <a:ext cx="2843784" cy="264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491426-6EAF-46A7-B30C-78AC92007CCC}"/>
              </a:ext>
            </a:extLst>
          </p:cNvPr>
          <p:cNvSpPr>
            <a:spLocks noGrp="1"/>
          </p:cNvSpPr>
          <p:nvPr/>
        </p:nvSpPr>
        <p:spPr>
          <a:xfrm>
            <a:off x="1069848" y="4590288"/>
            <a:ext cx="2843784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Smartphone-scannable QR digital passports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55DBD1C-5542-4772-B7B1-DA55A44DF61A}"/>
              </a:ext>
            </a:extLst>
          </p:cNvPr>
          <p:cNvSpPr>
            <a:spLocks noGrp="1"/>
          </p:cNvSpPr>
          <p:nvPr/>
        </p:nvSpPr>
        <p:spPr>
          <a:xfrm>
            <a:off x="4434840" y="4160520"/>
            <a:ext cx="3063240" cy="132588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ED549-EF1F-4D42-A94E-159C7FAE6DBF}"/>
              </a:ext>
            </a:extLst>
          </p:cNvPr>
          <p:cNvSpPr>
            <a:spLocks noGrp="1"/>
          </p:cNvSpPr>
          <p:nvPr/>
        </p:nvSpPr>
        <p:spPr>
          <a:xfrm>
            <a:off x="4544568" y="4233672"/>
            <a:ext cx="2843784" cy="264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CHDI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948D5C-7BB3-490D-AE71-4FBA790B44A9}"/>
              </a:ext>
            </a:extLst>
          </p:cNvPr>
          <p:cNvSpPr>
            <a:spLocks noGrp="1"/>
          </p:cNvSpPr>
          <p:nvPr/>
        </p:nvSpPr>
        <p:spPr>
          <a:xfrm>
            <a:off x="4544568" y="4590288"/>
            <a:ext cx="2843784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14-day baseline + multivariate analysis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F2EB174-B283-4401-85AB-DBD103D875A2}"/>
              </a:ext>
            </a:extLst>
          </p:cNvPr>
          <p:cNvSpPr>
            <a:spLocks noGrp="1"/>
          </p:cNvSpPr>
          <p:nvPr/>
        </p:nvSpPr>
        <p:spPr>
          <a:xfrm>
            <a:off x="7909560" y="4160520"/>
            <a:ext cx="3063240" cy="132588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B9D99F-8433-4494-AC79-DB8D8E42B621}"/>
              </a:ext>
            </a:extLst>
          </p:cNvPr>
          <p:cNvSpPr>
            <a:spLocks noGrp="1"/>
          </p:cNvSpPr>
          <p:nvPr/>
        </p:nvSpPr>
        <p:spPr>
          <a:xfrm>
            <a:off x="8019288" y="4233672"/>
            <a:ext cx="2843784" cy="264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VETERINARY FOLLOW-UP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433DB3-12E5-44C3-A6AF-881A43A2E9AF}"/>
              </a:ext>
            </a:extLst>
          </p:cNvPr>
          <p:cNvSpPr>
            <a:spLocks noGrp="1"/>
          </p:cNvSpPr>
          <p:nvPr/>
        </p:nvSpPr>
        <p:spPr>
          <a:xfrm>
            <a:off x="8019288" y="4590288"/>
            <a:ext cx="2843784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Role-based records, alerts and case review</a:t>
            </a:r>
          </a:p>
        </p:txBody>
      </p:sp>
    </p:spTree>
    <p:extLst>
      <p:ext uri="{BB962C8B-B14F-4D97-AF65-F5344CB8AC3E}">
        <p14:creationId xmlns:p14="http://schemas.microsoft.com/office/powerpoint/2010/main" val="2683659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128A0-978F-3912-AED8-E758C1208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989CE-3BFA-7AA3-FCC8-DA9D29AA8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1" y="1527969"/>
            <a:ext cx="10515600" cy="4351338"/>
          </a:xfrm>
        </p:spPr>
        <p:txBody>
          <a:bodyPr/>
          <a:lstStyle/>
          <a:p>
            <a:pPr marL="0" indent="0">
              <a:buNone/>
              <a:defRPr>
                <a:solidFill>
                  <a:srgbClr val="000000"/>
                </a:solidFill>
              </a:defRPr>
            </a:pPr>
            <a:endParaRPr/>
          </a:p>
          <a:p>
            <a:pPr>
              <a:defRPr>
                <a:solidFill>
                  <a:srgbClr val="000000"/>
                </a:solidFill>
              </a:defRPr>
            </a:pPr>
            <a:endParaRPr/>
          </a:p>
          <a:p>
            <a:pPr>
              <a:defRPr>
                <a:solidFill>
                  <a:srgbClr val="000000"/>
                </a:solidFill>
              </a:defRPr>
            </a:pPr>
            <a:endParaRPr/>
          </a:p>
          <a:p>
            <a:pPr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60253-485B-A551-20D4-2831B7AFD5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000000"/>
                </a:solidFill>
              </a:rP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86A39-8288-5B56-EB37-ED1CF52E2F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fld id="{B6A08FA2-6E03-4978-AC29-B1ACFE8A3E2D}" type="slidenum">
              <a:rPr/>
              <a:t>3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DDBE75-EC8C-4DEF-8A68-2567C20385CB}"/>
              </a:ext>
            </a:extLst>
          </p:cNvPr>
          <p:cNvSpPr>
            <a:spLocks noGrp="1"/>
          </p:cNvSpPr>
          <p:nvPr/>
        </p:nvSpPr>
        <p:spPr>
          <a:xfrm>
            <a:off x="868680" y="1600200"/>
            <a:ext cx="5577840" cy="4069832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 marL="457200" indent="-45720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Smallholder dairy farms often depend on manual observation and paper records.</a:t>
            </a:r>
          </a:p>
          <a:p>
            <a:pPr marL="457200" indent="-45720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Delayed recognition of subtle health changes can affect animal welfare and milk productivity.</a:t>
            </a:r>
          </a:p>
          <a:p>
            <a:pPr marL="457200" indent="-45720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RFID readers and wearable monitoring devices may increase setup and maintenance costs.</a:t>
            </a:r>
          </a:p>
          <a:p>
            <a:pPr marL="457200" indent="-45720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One-size-fits-all thresholds can overlook normal differences between individual cattle.</a:t>
            </a:r>
          </a:p>
          <a:p>
            <a:pPr marL="457200" indent="-457200">
              <a:spcAft>
                <a:spcPts val="11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Need: accessible digital identification combined with personalized, history-aware health assessment.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EEFFD98-A90C-4975-8FC5-389F99B52620}"/>
              </a:ext>
            </a:extLst>
          </p:cNvPr>
          <p:cNvSpPr>
            <a:spLocks noGrp="1"/>
          </p:cNvSpPr>
          <p:nvPr/>
        </p:nvSpPr>
        <p:spPr>
          <a:xfrm>
            <a:off x="6720840" y="1646509"/>
            <a:ext cx="4069080" cy="109728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95888D-FD7F-430D-9902-98B295DA0644}"/>
              </a:ext>
            </a:extLst>
          </p:cNvPr>
          <p:cNvSpPr>
            <a:spLocks noGrp="1"/>
          </p:cNvSpPr>
          <p:nvPr/>
        </p:nvSpPr>
        <p:spPr>
          <a:xfrm>
            <a:off x="6830568" y="1754695"/>
            <a:ext cx="3849624" cy="264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FOCUS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26F4AF-DF10-4177-A1FC-32480E85625E}"/>
              </a:ext>
            </a:extLst>
          </p:cNvPr>
          <p:cNvSpPr>
            <a:spLocks noGrp="1"/>
          </p:cNvSpPr>
          <p:nvPr/>
        </p:nvSpPr>
        <p:spPr>
          <a:xfrm>
            <a:off x="6830568" y="2131142"/>
            <a:ext cx="3849624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Affordable, infrastructure-light cattle health management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E61A423-84C8-4135-BEF5-83366B2A1821}"/>
              </a:ext>
            </a:extLst>
          </p:cNvPr>
          <p:cNvSpPr>
            <a:spLocks noGrp="1"/>
          </p:cNvSpPr>
          <p:nvPr/>
        </p:nvSpPr>
        <p:spPr>
          <a:xfrm>
            <a:off x="6766561" y="2904150"/>
            <a:ext cx="4069080" cy="109728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66AF52-5BE2-4538-9329-9613C9F6CBF6}"/>
              </a:ext>
            </a:extLst>
          </p:cNvPr>
          <p:cNvSpPr>
            <a:spLocks noGrp="1"/>
          </p:cNvSpPr>
          <p:nvPr/>
        </p:nvSpPr>
        <p:spPr>
          <a:xfrm>
            <a:off x="6830568" y="3087560"/>
            <a:ext cx="3849624" cy="264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HEALTH SIGNALS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F8416E-A9A6-4A87-BD3D-7A1638174F2E}"/>
              </a:ext>
            </a:extLst>
          </p:cNvPr>
          <p:cNvSpPr>
            <a:spLocks noGrp="1"/>
          </p:cNvSpPr>
          <p:nvPr/>
        </p:nvSpPr>
        <p:spPr>
          <a:xfrm>
            <a:off x="6830568" y="3490214"/>
            <a:ext cx="3849624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 weight • Feed intake • Milk yield • Temperature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465025E-D16F-4892-99D1-31E44E3E0748}"/>
              </a:ext>
            </a:extLst>
          </p:cNvPr>
          <p:cNvSpPr>
            <a:spLocks noGrp="1"/>
          </p:cNvSpPr>
          <p:nvPr/>
        </p:nvSpPr>
        <p:spPr>
          <a:xfrm>
            <a:off x="6720840" y="4212907"/>
            <a:ext cx="4069080" cy="109728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F023C7-F15D-423A-AB0C-C1C986A0C22D}"/>
              </a:ext>
            </a:extLst>
          </p:cNvPr>
          <p:cNvSpPr>
            <a:spLocks noGrp="1"/>
          </p:cNvSpPr>
          <p:nvPr/>
        </p:nvSpPr>
        <p:spPr>
          <a:xfrm>
            <a:off x="6766561" y="4370055"/>
            <a:ext cx="3849624" cy="264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INTENDED USERS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8BEBF8-F47D-45A1-8A18-F45F3BEC9427}"/>
              </a:ext>
            </a:extLst>
          </p:cNvPr>
          <p:cNvSpPr>
            <a:spLocks noGrp="1"/>
          </p:cNvSpPr>
          <p:nvPr/>
        </p:nvSpPr>
        <p:spPr>
          <a:xfrm>
            <a:off x="6830568" y="4807586"/>
            <a:ext cx="3849624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Farmers • Veterinarians • Administrators</a:t>
            </a:r>
          </a:p>
        </p:txBody>
      </p:sp>
    </p:spTree>
    <p:extLst>
      <p:ext uri="{BB962C8B-B14F-4D97-AF65-F5344CB8AC3E}">
        <p14:creationId xmlns:p14="http://schemas.microsoft.com/office/powerpoint/2010/main" val="2897999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961C5-9785-5F5D-A824-6D3D79C47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1" y="365125"/>
            <a:ext cx="10515600" cy="1325563"/>
          </a:xfrm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Existing System / 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5A9CA-4E21-9C6A-37FE-DBC7254266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000000"/>
                </a:solidFill>
              </a:rP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87E7A-B989-2083-5B23-0F82EB1D71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fld id="{B6A08FA2-6E03-4978-AC29-B1ACFE8A3E2D}" type="slidenum">
              <a:rPr/>
              <a:t>4</a:t>
            </a:fld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10516-534D-4A59-AD2A-3D137A6D84CA}"/>
              </a:ext>
            </a:extLst>
          </p:cNvPr>
          <p:cNvSpPr>
            <a:spLocks noGrp="1"/>
          </p:cNvSpPr>
          <p:nvPr/>
        </p:nvSpPr>
        <p:spPr>
          <a:xfrm>
            <a:off x="755119" y="2164723"/>
            <a:ext cx="5074920" cy="3043910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checks: depend on visible symptoms and periodic veterinary visits.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RFID / IoT collars: automate identification or sensing but require dedicated hardware.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thresholds: may not account for breed, lactation stage or individual baselines.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 registers and applications: fragment vaccination, treatment and health histories</a:t>
            </a:r>
            <a:r>
              <a:rPr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A91D47-ED84-48F5-84BB-48C13D34D6DF}"/>
              </a:ext>
            </a:extLst>
          </p:cNvPr>
          <p:cNvSpPr>
            <a:spLocks noGrp="1"/>
          </p:cNvSpPr>
          <p:nvPr/>
        </p:nvSpPr>
        <p:spPr>
          <a:xfrm>
            <a:off x="6361963" y="1583841"/>
            <a:ext cx="4800600" cy="7325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DIRECTIONS IN THE LITERATURE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40BED2-A0FF-47A4-BF32-164FDED65BF9}"/>
              </a:ext>
            </a:extLst>
          </p:cNvPr>
          <p:cNvSpPr>
            <a:spLocks noGrp="1"/>
          </p:cNvSpPr>
          <p:nvPr/>
        </p:nvSpPr>
        <p:spPr>
          <a:xfrm>
            <a:off x="6263640" y="2240280"/>
            <a:ext cx="4800600" cy="3300391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QR collars and digital passports for non-invasive animal identification.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PLF, IoT and multimodal datasets for continuous livestock monitoring.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multivariate anomaly detection for health assessment.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anomaly detection and abstention when data are insufficient.</a:t>
            </a:r>
          </a:p>
          <a:p>
            <a:pPr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480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309D1-5FA4-C3B4-988B-19C978BAB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Objective of the project 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7E554-0833-5491-3ECD-D22DD91B69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000000"/>
                </a:solidFill>
              </a:rP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51192-1B20-075D-6590-99B6D982DB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fld id="{B6A08FA2-6E03-4978-AC29-B1ACFE8A3E2D}" type="slidenum">
              <a:rPr/>
              <a:t>5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58A5A-F944-41E3-B997-D976EDA4D45C}"/>
              </a:ext>
            </a:extLst>
          </p:cNvPr>
          <p:cNvSpPr>
            <a:spLocks noGrp="1"/>
          </p:cNvSpPr>
          <p:nvPr/>
        </p:nvSpPr>
        <p:spPr>
          <a:xfrm>
            <a:off x="868680" y="1600200"/>
            <a:ext cx="8255655" cy="4044184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unique QR-based digital identity for every registered animal.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 cattle profiles, health observations, vaccination and veterinary records.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personalized 14-day rolling baseline for four core health parameters.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CHDI using standardized deviations and multivariate </a:t>
            </a:r>
            <a:r>
              <a:rPr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Mahalanobis</a:t>
            </a: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distance.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data-sufficiency checks,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7-</a:t>
            </a: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trend analysis and LOCO feature attribution.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role-based workflows for farmers, veterinarians and administrators.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prototype using the available longitudinal cattle dataset.</a:t>
            </a:r>
          </a:p>
        </p:txBody>
      </p:sp>
    </p:spTree>
    <p:extLst>
      <p:ext uri="{BB962C8B-B14F-4D97-AF65-F5344CB8AC3E}">
        <p14:creationId xmlns:p14="http://schemas.microsoft.com/office/powerpoint/2010/main" val="1380028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56090-75FC-2EC9-C6A4-C9D9BA5CE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96068"/>
            <a:ext cx="10515600" cy="1325563"/>
          </a:xfrm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Proposed System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C8AD5-BB8C-D550-A08B-B7C92A0D88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000000"/>
                </a:solidFill>
              </a:rP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B344B-3531-940F-A917-A6236C85A1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fld id="{B6A08FA2-6E03-4978-AC29-B1ACFE8A3E2D}" type="slidenum">
              <a:rPr/>
              <a:t>6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0184E-FD5A-410C-BF13-5DF0457253E0}"/>
              </a:ext>
            </a:extLst>
          </p:cNvPr>
          <p:cNvSpPr>
            <a:spLocks noGrp="1"/>
          </p:cNvSpPr>
          <p:nvPr/>
        </p:nvSpPr>
        <p:spPr>
          <a:xfrm>
            <a:off x="868680" y="1600200"/>
            <a:ext cx="10469880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  <a:defRPr sz="19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cloud-based, sensor-optional platform connecting animal identity, health records and veterinary action.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886E89-B421-4703-BDAB-C7161B59DB74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1984248" cy="192864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D0FAA4-A32D-4DB6-A21E-F19172B383E4}"/>
              </a:ext>
            </a:extLst>
          </p:cNvPr>
          <p:cNvSpPr>
            <a:spLocks noGrp="1"/>
          </p:cNvSpPr>
          <p:nvPr/>
        </p:nvSpPr>
        <p:spPr>
          <a:xfrm>
            <a:off x="1024128" y="2816352"/>
            <a:ext cx="1655063" cy="31085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9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REGISTER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63523D-1F7F-45E5-A34D-82D3EDCF021F}"/>
              </a:ext>
            </a:extLst>
          </p:cNvPr>
          <p:cNvSpPr>
            <a:spLocks noGrp="1"/>
          </p:cNvSpPr>
          <p:nvPr/>
        </p:nvSpPr>
        <p:spPr>
          <a:xfrm>
            <a:off x="1024128" y="3172968"/>
            <a:ext cx="1655063" cy="12064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3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cattle profile and unique QR token.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0132DA4-FBDF-4D44-97D8-7E1F3649F57F}"/>
              </a:ext>
            </a:extLst>
          </p:cNvPr>
          <p:cNvSpPr>
            <a:spLocks noGrp="1"/>
          </p:cNvSpPr>
          <p:nvPr/>
        </p:nvSpPr>
        <p:spPr>
          <a:xfrm>
            <a:off x="3017520" y="2743200"/>
            <a:ext cx="1874519" cy="192864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DDA36E-EDBB-4250-9D53-B4A1E9FCE8F9}"/>
              </a:ext>
            </a:extLst>
          </p:cNvPr>
          <p:cNvSpPr>
            <a:spLocks noGrp="1"/>
          </p:cNvSpPr>
          <p:nvPr/>
        </p:nvSpPr>
        <p:spPr>
          <a:xfrm>
            <a:off x="3127248" y="2816352"/>
            <a:ext cx="1655063" cy="31085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9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RECORD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9009B2-AE4B-4BE7-BA7F-B239B2CEAF49}"/>
              </a:ext>
            </a:extLst>
          </p:cNvPr>
          <p:cNvSpPr>
            <a:spLocks noGrp="1"/>
          </p:cNvSpPr>
          <p:nvPr/>
        </p:nvSpPr>
        <p:spPr>
          <a:xfrm>
            <a:off x="3127248" y="3172968"/>
            <a:ext cx="1655063" cy="9140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3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9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 weight, feed, milk and temperature.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DAE2470-0213-4FC3-A42D-140262E0F0FF}"/>
              </a:ext>
            </a:extLst>
          </p:cNvPr>
          <p:cNvSpPr>
            <a:spLocks noGrp="1"/>
          </p:cNvSpPr>
          <p:nvPr/>
        </p:nvSpPr>
        <p:spPr>
          <a:xfrm>
            <a:off x="5120640" y="2743200"/>
            <a:ext cx="1984248" cy="192864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5F270F-60C5-4147-BD49-613CACC7F90B}"/>
              </a:ext>
            </a:extLst>
          </p:cNvPr>
          <p:cNvSpPr>
            <a:spLocks noGrp="1"/>
          </p:cNvSpPr>
          <p:nvPr/>
        </p:nvSpPr>
        <p:spPr>
          <a:xfrm>
            <a:off x="5230368" y="2816352"/>
            <a:ext cx="1655063" cy="31085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9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 ANALYZE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2C0418-3CDA-4B6F-887D-FE51423486FE}"/>
              </a:ext>
            </a:extLst>
          </p:cNvPr>
          <p:cNvSpPr>
            <a:spLocks noGrp="1"/>
          </p:cNvSpPr>
          <p:nvPr/>
        </p:nvSpPr>
        <p:spPr>
          <a:xfrm>
            <a:off x="5230368" y="3172968"/>
            <a:ext cx="1655063" cy="149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3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observations with the animal’s 14-day baseline.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E4DBBBF-5D25-429B-9E37-1B219E52993F}"/>
              </a:ext>
            </a:extLst>
          </p:cNvPr>
          <p:cNvSpPr>
            <a:spLocks noGrp="1"/>
          </p:cNvSpPr>
          <p:nvPr/>
        </p:nvSpPr>
        <p:spPr>
          <a:xfrm>
            <a:off x="7223759" y="2743200"/>
            <a:ext cx="1993392" cy="192864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C2055B-6621-49AE-8620-E332AD3D8054}"/>
              </a:ext>
            </a:extLst>
          </p:cNvPr>
          <p:cNvSpPr>
            <a:spLocks noGrp="1"/>
          </p:cNvSpPr>
          <p:nvPr/>
        </p:nvSpPr>
        <p:spPr>
          <a:xfrm>
            <a:off x="7333488" y="2816352"/>
            <a:ext cx="1655063" cy="31085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9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EXPLAIN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4FE662-B4A6-4243-89BD-FE5375A9491C}"/>
              </a:ext>
            </a:extLst>
          </p:cNvPr>
          <p:cNvSpPr>
            <a:spLocks noGrp="1"/>
          </p:cNvSpPr>
          <p:nvPr/>
        </p:nvSpPr>
        <p:spPr>
          <a:xfrm>
            <a:off x="7333488" y="3172968"/>
            <a:ext cx="1655063" cy="12064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3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CHDI status, trends and contributing signals.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D26212D-2984-4DA0-8440-4C1DE26DFEDF}"/>
              </a:ext>
            </a:extLst>
          </p:cNvPr>
          <p:cNvSpPr>
            <a:spLocks noGrp="1"/>
          </p:cNvSpPr>
          <p:nvPr/>
        </p:nvSpPr>
        <p:spPr>
          <a:xfrm>
            <a:off x="9326880" y="2743200"/>
            <a:ext cx="1950720" cy="1928640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19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80935D-3746-4437-AE23-C298101F5D4B}"/>
              </a:ext>
            </a:extLst>
          </p:cNvPr>
          <p:cNvSpPr>
            <a:spLocks noGrp="1"/>
          </p:cNvSpPr>
          <p:nvPr/>
        </p:nvSpPr>
        <p:spPr>
          <a:xfrm>
            <a:off x="9436607" y="2816352"/>
            <a:ext cx="1655063" cy="31085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9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RESPOND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1FBE91-D562-4F07-9E56-8A2B38454F6C}"/>
              </a:ext>
            </a:extLst>
          </p:cNvPr>
          <p:cNvSpPr>
            <a:spLocks noGrp="1"/>
          </p:cNvSpPr>
          <p:nvPr/>
        </p:nvSpPr>
        <p:spPr>
          <a:xfrm>
            <a:off x="9436607" y="3172968"/>
            <a:ext cx="1655063" cy="149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3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 at-risk cases for veterinary review and feedback.</a:t>
            </a:r>
          </a:p>
        </p:txBody>
      </p:sp>
    </p:spTree>
    <p:extLst>
      <p:ext uri="{BB962C8B-B14F-4D97-AF65-F5344CB8AC3E}">
        <p14:creationId xmlns:p14="http://schemas.microsoft.com/office/powerpoint/2010/main" val="1055599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5D0DE-F343-7DE5-EBEA-9FD0BC73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Architecture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687F4-97AD-2F5A-8CF2-BD38254DF41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000000"/>
                </a:solidFill>
              </a:rP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E8C64-5FF9-3AF6-80AF-E355FE894F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fld id="{B6A08FA2-6E03-4978-AC29-B1ACFE8A3E2D}" type="slidenum">
              <a:rPr/>
              <a:t>7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207CA8-5604-4FC3-A582-707DCE953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970" y="1526489"/>
            <a:ext cx="9335668" cy="466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156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EEA52-A052-EF6E-B37A-CDFA7152C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Technology Used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06763-B5E8-5369-5FE7-E74BC83543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000000"/>
                </a:solidFill>
              </a:rP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CF371-7C57-F90F-5F29-6B980CD692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fld id="{B6A08FA2-6E03-4978-AC29-B1ACFE8A3E2D}" type="slidenum">
              <a:rPr/>
              <a:t>8</a:t>
            </a:fld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7832BF4-2CC3-4C18-A9C1-D86B335AA163}"/>
              </a:ext>
            </a:extLst>
          </p:cNvPr>
          <p:cNvSpPr>
            <a:spLocks noGrp="1"/>
          </p:cNvSpPr>
          <p:nvPr/>
        </p:nvSpPr>
        <p:spPr>
          <a:xfrm>
            <a:off x="914400" y="1737360"/>
            <a:ext cx="4892040" cy="1078992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9F91B5-2CD2-4011-AA3C-45F11477F00C}"/>
              </a:ext>
            </a:extLst>
          </p:cNvPr>
          <p:cNvSpPr>
            <a:spLocks noGrp="1"/>
          </p:cNvSpPr>
          <p:nvPr/>
        </p:nvSpPr>
        <p:spPr>
          <a:xfrm>
            <a:off x="1024128" y="1810512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F0D603-30F8-4C46-A788-55698C00EB58}"/>
              </a:ext>
            </a:extLst>
          </p:cNvPr>
          <p:cNvSpPr>
            <a:spLocks noGrp="1"/>
          </p:cNvSpPr>
          <p:nvPr/>
        </p:nvSpPr>
        <p:spPr>
          <a:xfrm>
            <a:off x="1024128" y="2167128"/>
            <a:ext cx="4672583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Next.js 16 • React 19 • Tailwind CSS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05D97CC-3DCD-43BC-90DD-3B746DAA4FB5}"/>
              </a:ext>
            </a:extLst>
          </p:cNvPr>
          <p:cNvSpPr>
            <a:spLocks noGrp="1"/>
          </p:cNvSpPr>
          <p:nvPr/>
        </p:nvSpPr>
        <p:spPr>
          <a:xfrm>
            <a:off x="6172200" y="1737360"/>
            <a:ext cx="4892040" cy="1078992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4CD1AE-41A2-4E94-A44E-009E818239DD}"/>
              </a:ext>
            </a:extLst>
          </p:cNvPr>
          <p:cNvSpPr>
            <a:spLocks noGrp="1"/>
          </p:cNvSpPr>
          <p:nvPr/>
        </p:nvSpPr>
        <p:spPr>
          <a:xfrm>
            <a:off x="6281928" y="1810512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&amp; API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101F6F-0873-4B05-B250-942C5586D5AA}"/>
              </a:ext>
            </a:extLst>
          </p:cNvPr>
          <p:cNvSpPr>
            <a:spLocks noGrp="1"/>
          </p:cNvSpPr>
          <p:nvPr/>
        </p:nvSpPr>
        <p:spPr>
          <a:xfrm>
            <a:off x="6281928" y="2167128"/>
            <a:ext cx="4672583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Next.js API routes • Node.js • REST APIs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2225B3B-67A7-4C18-9194-41FD4397E1DC}"/>
              </a:ext>
            </a:extLst>
          </p:cNvPr>
          <p:cNvSpPr>
            <a:spLocks noGrp="1"/>
          </p:cNvSpPr>
          <p:nvPr/>
        </p:nvSpPr>
        <p:spPr>
          <a:xfrm>
            <a:off x="914400" y="3090672"/>
            <a:ext cx="4892040" cy="1078992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E2E5D1-5996-4705-9CCB-37917CB797AB}"/>
              </a:ext>
            </a:extLst>
          </p:cNvPr>
          <p:cNvSpPr>
            <a:spLocks noGrp="1"/>
          </p:cNvSpPr>
          <p:nvPr/>
        </p:nvSpPr>
        <p:spPr>
          <a:xfrm>
            <a:off x="1024128" y="3163824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41218B-8219-40D2-8C85-FED4424E8091}"/>
              </a:ext>
            </a:extLst>
          </p:cNvPr>
          <p:cNvSpPr>
            <a:spLocks noGrp="1"/>
          </p:cNvSpPr>
          <p:nvPr/>
        </p:nvSpPr>
        <p:spPr>
          <a:xfrm>
            <a:off x="1024128" y="3520439"/>
            <a:ext cx="4672583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 (Neon Serverless) • Prisma ORM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225130C-D8DA-4499-8F86-009ACD95DCA4}"/>
              </a:ext>
            </a:extLst>
          </p:cNvPr>
          <p:cNvSpPr>
            <a:spLocks noGrp="1"/>
          </p:cNvSpPr>
          <p:nvPr/>
        </p:nvSpPr>
        <p:spPr>
          <a:xfrm>
            <a:off x="6172200" y="3090672"/>
            <a:ext cx="4892040" cy="1078992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0A2E33-5DBC-408A-8E86-6754BF23C3F3}"/>
              </a:ext>
            </a:extLst>
          </p:cNvPr>
          <p:cNvSpPr>
            <a:spLocks noGrp="1"/>
          </p:cNvSpPr>
          <p:nvPr/>
        </p:nvSpPr>
        <p:spPr>
          <a:xfrm>
            <a:off x="6281928" y="3163824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33C217-8604-4C4B-88AA-51889E98D002}"/>
              </a:ext>
            </a:extLst>
          </p:cNvPr>
          <p:cNvSpPr>
            <a:spLocks noGrp="1"/>
          </p:cNvSpPr>
          <p:nvPr/>
        </p:nvSpPr>
        <p:spPr>
          <a:xfrm>
            <a:off x="6281928" y="3520439"/>
            <a:ext cx="4672583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• FastAPI • NumPy • SciPy • Pandas • Scikit-learn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32F36ED-F384-447E-95A3-59E47A0577F9}"/>
              </a:ext>
            </a:extLst>
          </p:cNvPr>
          <p:cNvSpPr>
            <a:spLocks noGrp="1"/>
          </p:cNvSpPr>
          <p:nvPr/>
        </p:nvSpPr>
        <p:spPr>
          <a:xfrm>
            <a:off x="914400" y="4443983"/>
            <a:ext cx="4892040" cy="1078992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477747-8A67-4445-A9B6-3BCC968A7CF8}"/>
              </a:ext>
            </a:extLst>
          </p:cNvPr>
          <p:cNvSpPr>
            <a:spLocks noGrp="1"/>
          </p:cNvSpPr>
          <p:nvPr/>
        </p:nvSpPr>
        <p:spPr>
          <a:xfrm>
            <a:off x="1024128" y="4517136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QR generation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39C4ED-EFA5-47C1-94F0-8732BCD9373E}"/>
              </a:ext>
            </a:extLst>
          </p:cNvPr>
          <p:cNvSpPr>
            <a:spLocks noGrp="1"/>
          </p:cNvSpPr>
          <p:nvPr/>
        </p:nvSpPr>
        <p:spPr>
          <a:xfrm>
            <a:off x="1024128" y="4873751"/>
            <a:ext cx="4672583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qrcode (npm) • HTML5 Canvas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383E803-8A33-41F4-B203-6B2AA31E0B49}"/>
              </a:ext>
            </a:extLst>
          </p:cNvPr>
          <p:cNvSpPr>
            <a:spLocks noGrp="1"/>
          </p:cNvSpPr>
          <p:nvPr/>
        </p:nvSpPr>
        <p:spPr>
          <a:xfrm>
            <a:off x="6172200" y="4443983"/>
            <a:ext cx="4995672" cy="1112626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475D74-75FC-449C-B810-546497432C46}"/>
              </a:ext>
            </a:extLst>
          </p:cNvPr>
          <p:cNvSpPr>
            <a:spLocks noGrp="1"/>
          </p:cNvSpPr>
          <p:nvPr/>
        </p:nvSpPr>
        <p:spPr>
          <a:xfrm>
            <a:off x="6281928" y="4517136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D27E30-263E-4505-944D-3DDC074EF8B4}"/>
              </a:ext>
            </a:extLst>
          </p:cNvPr>
          <p:cNvSpPr>
            <a:spLocks noGrp="1"/>
          </p:cNvSpPr>
          <p:nvPr/>
        </p:nvSpPr>
        <p:spPr>
          <a:xfrm>
            <a:off x="6281928" y="4873751"/>
            <a:ext cx="4672583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4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Smartphone camera • Laminated / UV-resistant QR tag • Cloud server</a:t>
            </a:r>
          </a:p>
        </p:txBody>
      </p:sp>
    </p:spTree>
    <p:extLst>
      <p:ext uri="{BB962C8B-B14F-4D97-AF65-F5344CB8AC3E}">
        <p14:creationId xmlns:p14="http://schemas.microsoft.com/office/powerpoint/2010/main" val="49571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5786D-47F7-8FE9-D42F-90D307C4F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Description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F3D12-B7A4-C89B-DAF7-28676EF534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000000"/>
                </a:solidFill>
              </a:rP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1A2B7-95BE-4D6B-2E42-F0177E967E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fld id="{B6A08FA2-6E03-4978-AC29-B1ACFE8A3E2D}" type="slidenum">
              <a:rPr/>
              <a:t>9</a:t>
            </a:fld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E4A209F-190E-4EC5-896F-343AB8099199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D6CBEC-1E50-451E-99F7-E7F5A56579D1}"/>
              </a:ext>
            </a:extLst>
          </p:cNvPr>
          <p:cNvSpPr>
            <a:spLocks noGrp="1"/>
          </p:cNvSpPr>
          <p:nvPr/>
        </p:nvSpPr>
        <p:spPr>
          <a:xfrm>
            <a:off x="1024128" y="1901952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 Authentication &amp; RBAC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F41E24-4065-481D-814D-11FF53F7974E}"/>
              </a:ext>
            </a:extLst>
          </p:cNvPr>
          <p:cNvSpPr>
            <a:spLocks noGrp="1"/>
          </p:cNvSpPr>
          <p:nvPr/>
        </p:nvSpPr>
        <p:spPr>
          <a:xfrm>
            <a:off x="1024128" y="2258568"/>
            <a:ext cx="4672583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 farmer, veterinarian and administrator permissions; protect routes and sensitive record updates.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BB3786B-B4B4-4644-858E-2C9B4D74C167}"/>
              </a:ext>
            </a:extLst>
          </p:cNvPr>
          <p:cNvSpPr>
            <a:spLocks noGrp="1"/>
          </p:cNvSpPr>
          <p:nvPr/>
        </p:nvSpPr>
        <p:spPr>
          <a:xfrm>
            <a:off x="6172200" y="1828800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4E7A95-8BC7-4DF2-9A08-0420D7EACC8D}"/>
              </a:ext>
            </a:extLst>
          </p:cNvPr>
          <p:cNvSpPr>
            <a:spLocks noGrp="1"/>
          </p:cNvSpPr>
          <p:nvPr/>
        </p:nvSpPr>
        <p:spPr>
          <a:xfrm>
            <a:off x="6281928" y="1901952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  Cattle Identification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4834FA-0FB2-4092-A13D-6CB4074DED18}"/>
              </a:ext>
            </a:extLst>
          </p:cNvPr>
          <p:cNvSpPr>
            <a:spLocks noGrp="1"/>
          </p:cNvSpPr>
          <p:nvPr/>
        </p:nvSpPr>
        <p:spPr>
          <a:xfrm>
            <a:off x="6281928" y="2258568"/>
            <a:ext cx="4672583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animals, manage breed and lactation details, and issue a unique QR digital passport.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D1B17AD-1E62-4199-A471-7A2CA6101970}"/>
              </a:ext>
            </a:extLst>
          </p:cNvPr>
          <p:cNvSpPr>
            <a:spLocks noGrp="1"/>
          </p:cNvSpPr>
          <p:nvPr/>
        </p:nvSpPr>
        <p:spPr>
          <a:xfrm>
            <a:off x="914400" y="3749039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80A388-F701-46C4-BA7A-A54A35F39705}"/>
              </a:ext>
            </a:extLst>
          </p:cNvPr>
          <p:cNvSpPr>
            <a:spLocks noGrp="1"/>
          </p:cNvSpPr>
          <p:nvPr/>
        </p:nvSpPr>
        <p:spPr>
          <a:xfrm>
            <a:off x="1024128" y="3822191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  Health Data Logging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0A6559-8B07-4DC0-A043-43F0015A749E}"/>
              </a:ext>
            </a:extLst>
          </p:cNvPr>
          <p:cNvSpPr>
            <a:spLocks noGrp="1"/>
          </p:cNvSpPr>
          <p:nvPr/>
        </p:nvSpPr>
        <p:spPr>
          <a:xfrm>
            <a:off x="1024128" y="4178807"/>
            <a:ext cx="4672583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 body weight, feed intake, milk production and core temperature as timestamped records.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66FAC10-431C-48F9-B568-EAFDA6B87247}"/>
              </a:ext>
            </a:extLst>
          </p:cNvPr>
          <p:cNvSpPr>
            <a:spLocks noGrp="1"/>
          </p:cNvSpPr>
          <p:nvPr/>
        </p:nvSpPr>
        <p:spPr>
          <a:xfrm>
            <a:off x="6172200" y="3749039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221CE6-A36F-4C59-A7AA-5C97CC8442EA}"/>
              </a:ext>
            </a:extLst>
          </p:cNvPr>
          <p:cNvSpPr>
            <a:spLocks noGrp="1"/>
          </p:cNvSpPr>
          <p:nvPr/>
        </p:nvSpPr>
        <p:spPr>
          <a:xfrm>
            <a:off x="6281928" y="3822191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  Medical &amp; Vaccination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BD22E4-DDA4-42C4-96F8-AC6AF55A27B8}"/>
              </a:ext>
            </a:extLst>
          </p:cNvPr>
          <p:cNvSpPr>
            <a:spLocks noGrp="1"/>
          </p:cNvSpPr>
          <p:nvPr/>
        </p:nvSpPr>
        <p:spPr>
          <a:xfrm>
            <a:off x="6281928" y="4178807"/>
            <a:ext cx="4672583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 vaccination, deworming, diagnosis, treatment and follow-up information.</a:t>
            </a:r>
          </a:p>
        </p:txBody>
      </p:sp>
    </p:spTree>
    <p:extLst>
      <p:ext uri="{BB962C8B-B14F-4D97-AF65-F5344CB8AC3E}">
        <p14:creationId xmlns:p14="http://schemas.microsoft.com/office/powerpoint/2010/main" val="2214384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80957-E354-94CD-F453-B0FE8F60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Description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52F03-70B3-B587-0E05-270D59D79C4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000000"/>
                </a:solidFill>
              </a:rP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EA384-8E9A-FDD7-FB8B-046737A7A2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fld id="{B6A08FA2-6E03-4978-AC29-B1ACFE8A3E2D}" type="slidenum">
              <a:rPr/>
              <a:t>10</a:t>
            </a:fld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9206CDD-81DF-4CB6-89AE-FA7C808C9CC6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183D47-7F9B-41BE-9A80-A4A125760CC1}"/>
              </a:ext>
            </a:extLst>
          </p:cNvPr>
          <p:cNvSpPr>
            <a:spLocks noGrp="1"/>
          </p:cNvSpPr>
          <p:nvPr/>
        </p:nvSpPr>
        <p:spPr>
          <a:xfrm>
            <a:off x="1024128" y="1901952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 Baseline &amp; CHDI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1FA05D-1BAA-43FA-96E2-BC2D8651CE0B}"/>
              </a:ext>
            </a:extLst>
          </p:cNvPr>
          <p:cNvSpPr>
            <a:spLocks noGrp="1"/>
          </p:cNvSpPr>
          <p:nvPr/>
        </p:nvSpPr>
        <p:spPr>
          <a:xfrm>
            <a:off x="1024128" y="2258568"/>
            <a:ext cx="4672583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14-day rolling statistics, normalize signals and calculate covariance-weighted Mahalanobis distance.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ABEEB9-C9EC-43B1-964E-0D4394AF8D9D}"/>
              </a:ext>
            </a:extLst>
          </p:cNvPr>
          <p:cNvSpPr>
            <a:spLocks noGrp="1"/>
          </p:cNvSpPr>
          <p:nvPr/>
        </p:nvSpPr>
        <p:spPr>
          <a:xfrm>
            <a:off x="6172200" y="1828800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8FCFE4-5413-405B-89CD-087CEDF7E793}"/>
              </a:ext>
            </a:extLst>
          </p:cNvPr>
          <p:cNvSpPr>
            <a:spLocks noGrp="1"/>
          </p:cNvSpPr>
          <p:nvPr/>
        </p:nvSpPr>
        <p:spPr>
          <a:xfrm>
            <a:off x="6281928" y="1901952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  Health Trends &amp; Analytics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C90436-36CB-4FDC-A1EB-20EAC2F172BC}"/>
              </a:ext>
            </a:extLst>
          </p:cNvPr>
          <p:cNvSpPr>
            <a:spLocks noGrp="1"/>
          </p:cNvSpPr>
          <p:nvPr/>
        </p:nvSpPr>
        <p:spPr>
          <a:xfrm>
            <a:off x="6281928" y="2258568"/>
            <a:ext cx="4672583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7-day and 30-day history and identify changing CHDI patterns.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772E264-CFB0-4A6B-98C1-E714387BB523}"/>
              </a:ext>
            </a:extLst>
          </p:cNvPr>
          <p:cNvSpPr>
            <a:spLocks noGrp="1"/>
          </p:cNvSpPr>
          <p:nvPr/>
        </p:nvSpPr>
        <p:spPr>
          <a:xfrm>
            <a:off x="914400" y="3749039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6B20A1-9E3A-475D-AE40-E32A88AD848B}"/>
              </a:ext>
            </a:extLst>
          </p:cNvPr>
          <p:cNvSpPr>
            <a:spLocks noGrp="1"/>
          </p:cNvSpPr>
          <p:nvPr/>
        </p:nvSpPr>
        <p:spPr>
          <a:xfrm>
            <a:off x="1024128" y="3822191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  Explainability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88FC76-58C1-4ED4-94CF-0BEA395BABAB}"/>
              </a:ext>
            </a:extLst>
          </p:cNvPr>
          <p:cNvSpPr>
            <a:spLocks noGrp="1"/>
          </p:cNvSpPr>
          <p:nvPr/>
        </p:nvSpPr>
        <p:spPr>
          <a:xfrm>
            <a:off x="1024128" y="4178807"/>
            <a:ext cx="4672583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leave-one-covariate-out (LOCO) attribution to show which signals contribute to an alert.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14FD4A9-273F-49AE-98A5-7722A51F1BBE}"/>
              </a:ext>
            </a:extLst>
          </p:cNvPr>
          <p:cNvSpPr>
            <a:spLocks noGrp="1"/>
          </p:cNvSpPr>
          <p:nvPr/>
        </p:nvSpPr>
        <p:spPr>
          <a:xfrm>
            <a:off x="6172200" y="3749039"/>
            <a:ext cx="4892040" cy="1572768"/>
          </a:xfrm>
          <a:prstGeom prst="roundRect">
            <a:avLst/>
          </a:prstGeom>
          <a:solidFill>
            <a:srgbClr val="F8FAF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000000"/>
                </a:solidFill>
              </a:defRPr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33D5ED-D5FF-4BBD-AE49-D4F0C601B0E9}"/>
              </a:ext>
            </a:extLst>
          </p:cNvPr>
          <p:cNvSpPr>
            <a:spLocks noGrp="1"/>
          </p:cNvSpPr>
          <p:nvPr/>
        </p:nvSpPr>
        <p:spPr>
          <a:xfrm>
            <a:off x="6281928" y="3822191"/>
            <a:ext cx="4672583" cy="32624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  Veterinary Alerts &amp; Feedback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E29E11-CEDB-4759-A9E4-D0D101AB687F}"/>
              </a:ext>
            </a:extLst>
          </p:cNvPr>
          <p:cNvSpPr>
            <a:spLocks noGrp="1"/>
          </p:cNvSpPr>
          <p:nvPr/>
        </p:nvSpPr>
        <p:spPr>
          <a:xfrm>
            <a:off x="6281928" y="4178807"/>
            <a:ext cx="4672583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Prioritize cases, assign veterinary review, record diagnosis/treatment and capture verified feedback.</a:t>
            </a:r>
          </a:p>
        </p:txBody>
      </p:sp>
    </p:spTree>
    <p:extLst>
      <p:ext uri="{BB962C8B-B14F-4D97-AF65-F5344CB8AC3E}">
        <p14:creationId xmlns:p14="http://schemas.microsoft.com/office/powerpoint/2010/main" val="3169942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ECE46-BAAB-CAA4-05A8-372CB2CC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Results &amp; Discussion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FA26E-B422-E60D-0452-51DAD617AF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000000"/>
                </a:solidFill>
              </a:rPr>
              <a:t>31-10-2026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C3AC5E-D62B-45BD-A69A-BD9FA4177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7236" y="1857388"/>
            <a:ext cx="3934887" cy="24117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D4D426-9E12-46B8-86D0-0CFA1657AA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0" y="1789612"/>
            <a:ext cx="4754879" cy="25472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12F2F3-DB23-41EC-8B06-93FCD04094C9}"/>
              </a:ext>
            </a:extLst>
          </p:cNvPr>
          <p:cNvSpPr>
            <a:spLocks noGrp="1"/>
          </p:cNvSpPr>
          <p:nvPr/>
        </p:nvSpPr>
        <p:spPr>
          <a:xfrm>
            <a:off x="914400" y="4480560"/>
            <a:ext cx="10241280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MAHALANOBIS CHDI — REPORTED PERFORMANCE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266022-4A92-47E8-BFA2-D233FA28C698}"/>
              </a:ext>
            </a:extLst>
          </p:cNvPr>
          <p:cNvSpPr>
            <a:spLocks noGrp="1"/>
          </p:cNvSpPr>
          <p:nvPr/>
        </p:nvSpPr>
        <p:spPr>
          <a:xfrm>
            <a:off x="914400" y="49560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91.20%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17B772-51CB-48A6-B139-60B8FEF57DEA}"/>
              </a:ext>
            </a:extLst>
          </p:cNvPr>
          <p:cNvSpPr>
            <a:spLocks noGrp="1"/>
          </p:cNvSpPr>
          <p:nvPr/>
        </p:nvSpPr>
        <p:spPr>
          <a:xfrm>
            <a:off x="914400" y="54132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Sensitivity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370671-E9C2-4160-B084-B6A563779F92}"/>
              </a:ext>
            </a:extLst>
          </p:cNvPr>
          <p:cNvSpPr>
            <a:spLocks noGrp="1"/>
          </p:cNvSpPr>
          <p:nvPr/>
        </p:nvSpPr>
        <p:spPr>
          <a:xfrm>
            <a:off x="2999232" y="49560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96.85</a:t>
            </a:r>
            <a:r>
              <a:rPr sz="2000" dirty="0">
                <a:solidFill>
                  <a:srgbClr val="000000"/>
                </a:solidFill>
              </a:rPr>
              <a:t>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A73D70-6FBE-4DF5-8E96-35FF9033B896}"/>
              </a:ext>
            </a:extLst>
          </p:cNvPr>
          <p:cNvSpPr>
            <a:spLocks noGrp="1"/>
          </p:cNvSpPr>
          <p:nvPr/>
        </p:nvSpPr>
        <p:spPr>
          <a:xfrm>
            <a:off x="2999232" y="54132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B4253F-CEBD-4357-BBCF-80E53CDE4072}"/>
              </a:ext>
            </a:extLst>
          </p:cNvPr>
          <p:cNvSpPr>
            <a:spLocks noGrp="1"/>
          </p:cNvSpPr>
          <p:nvPr/>
        </p:nvSpPr>
        <p:spPr>
          <a:xfrm>
            <a:off x="5084064" y="49560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88.50</a:t>
            </a: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E15C57-B436-435D-A793-12F6B0FA4214}"/>
              </a:ext>
            </a:extLst>
          </p:cNvPr>
          <p:cNvSpPr>
            <a:spLocks noGrp="1"/>
          </p:cNvSpPr>
          <p:nvPr/>
        </p:nvSpPr>
        <p:spPr>
          <a:xfrm>
            <a:off x="5084064" y="54132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C5EA48-BA4C-46AA-B22D-5D453BA5FECB}"/>
              </a:ext>
            </a:extLst>
          </p:cNvPr>
          <p:cNvSpPr>
            <a:spLocks noGrp="1"/>
          </p:cNvSpPr>
          <p:nvPr/>
        </p:nvSpPr>
        <p:spPr>
          <a:xfrm>
            <a:off x="7168896" y="49560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89.82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D00CED-342E-494B-8C06-40901FE58CEF}"/>
              </a:ext>
            </a:extLst>
          </p:cNvPr>
          <p:cNvSpPr>
            <a:spLocks noGrp="1"/>
          </p:cNvSpPr>
          <p:nvPr/>
        </p:nvSpPr>
        <p:spPr>
          <a:xfrm>
            <a:off x="7168896" y="5413248"/>
            <a:ext cx="187451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2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</p:txBody>
      </p:sp>
    </p:spTree>
    <p:extLst>
      <p:ext uri="{BB962C8B-B14F-4D97-AF65-F5344CB8AC3E}">
        <p14:creationId xmlns:p14="http://schemas.microsoft.com/office/powerpoint/2010/main" val="3051079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5D1A6-9E48-6BC3-2E99-BD8D4E964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Screenshots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6D207-EA2F-9361-FF07-A295D75C54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000000"/>
                </a:solidFill>
              </a:rP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6078D-E05A-668D-D7D3-6EAEA60154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fld id="{B6A08FA2-6E03-4978-AC29-B1ACFE8A3E2D}" type="slidenum">
              <a:rPr/>
              <a:t>12</a:t>
            </a:fld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60C821-44C0-48D1-882A-06C7FAEEEF77}"/>
              </a:ext>
            </a:extLst>
          </p:cNvPr>
          <p:cNvSpPr>
            <a:spLocks noGrp="1"/>
          </p:cNvSpPr>
          <p:nvPr/>
        </p:nvSpPr>
        <p:spPr>
          <a:xfrm>
            <a:off x="914400" y="3300984"/>
            <a:ext cx="4846320" cy="39395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3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QR scanner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A7A1CD-8037-4A27-BDE2-9DC022AFF1C0}"/>
              </a:ext>
            </a:extLst>
          </p:cNvPr>
          <p:cNvSpPr>
            <a:spLocks noGrp="1"/>
          </p:cNvSpPr>
          <p:nvPr/>
        </p:nvSpPr>
        <p:spPr>
          <a:xfrm>
            <a:off x="6172200" y="3300984"/>
            <a:ext cx="4846320" cy="39395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3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 &amp; vaccine records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9E6BEE-FC19-4016-946D-D45B5F5320BA}"/>
              </a:ext>
            </a:extLst>
          </p:cNvPr>
          <p:cNvSpPr>
            <a:spLocks noGrp="1"/>
          </p:cNvSpPr>
          <p:nvPr/>
        </p:nvSpPr>
        <p:spPr>
          <a:xfrm>
            <a:off x="914400" y="5541264"/>
            <a:ext cx="4846320" cy="39395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3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Veterinary case queue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B4ECEF-72B0-4CC8-98BC-62CAB7B9587B}"/>
              </a:ext>
            </a:extLst>
          </p:cNvPr>
          <p:cNvSpPr>
            <a:spLocks noGrp="1"/>
          </p:cNvSpPr>
          <p:nvPr/>
        </p:nvSpPr>
        <p:spPr>
          <a:xfrm>
            <a:off x="6172200" y="5569012"/>
            <a:ext cx="4846320" cy="39395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  <a:defRPr sz="13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Cattle herd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managaement</a:t>
            </a:r>
            <a:endParaRPr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 descr="Screenshot 2026-10-31 0233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560" y="1500000"/>
            <a:ext cx="3700000" cy="1750000"/>
          </a:xfrm>
          <a:prstGeom prst="rect">
            <a:avLst/>
          </a:prstGeom>
        </p:spPr>
      </p:pic>
      <p:pic>
        <p:nvPicPr>
          <p:cNvPr id="16" name="Picture 15" descr="Screenshot 2026-10-31 0239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360" y="1500000"/>
            <a:ext cx="3700000" cy="1750000"/>
          </a:xfrm>
          <a:prstGeom prst="rect">
            <a:avLst/>
          </a:prstGeom>
        </p:spPr>
      </p:pic>
      <p:pic>
        <p:nvPicPr>
          <p:cNvPr id="17" name="Picture 16" descr="Screenshot 2026-10-31 0244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7560" y="3740000"/>
            <a:ext cx="3700000" cy="1750000"/>
          </a:xfrm>
          <a:prstGeom prst="rect">
            <a:avLst/>
          </a:prstGeom>
        </p:spPr>
      </p:pic>
      <p:pic>
        <p:nvPicPr>
          <p:cNvPr id="18" name="Picture 17" descr="Screenshot 2026-10-31 02323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5360" y="3740000"/>
            <a:ext cx="3700000" cy="17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834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365125"/>
            <a:ext cx="2253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imes New Roman"/>
              </a:defRPr>
            </a:pPr>
            <a:r>
              <a:rPr dirty="0"/>
              <a:t>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31-10-2026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13</a:t>
            </a:r>
          </a:p>
        </p:txBody>
      </p:sp>
      <p:pic>
        <p:nvPicPr>
          <p:cNvPr id="5" name="Picture 4" descr="Screenshot 2026-10-31 0231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560" y="1500000"/>
            <a:ext cx="3700000" cy="175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33101" y="3300984"/>
            <a:ext cx="400891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Times New Roman"/>
              </a:defRPr>
            </a:pPr>
            <a:r>
              <a:rPr sz="1600" dirty="0"/>
              <a:t>Farmer herd dashboard &amp; health summary</a:t>
            </a:r>
          </a:p>
        </p:txBody>
      </p:sp>
      <p:pic>
        <p:nvPicPr>
          <p:cNvPr id="7" name="Picture 6" descr="Screenshot 2026-10-31 0243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360" y="1500000"/>
            <a:ext cx="3700000" cy="175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58483" y="3300984"/>
            <a:ext cx="24737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Times New Roman"/>
              </a:defRPr>
            </a:pPr>
            <a:r>
              <a:rPr sz="1600" dirty="0"/>
              <a:t>Urgent cattle triage queue</a:t>
            </a:r>
          </a:p>
        </p:txBody>
      </p:sp>
      <p:pic>
        <p:nvPicPr>
          <p:cNvPr id="9" name="Picture 8" descr="Screenshot 2026-10-31 0246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7560" y="3740000"/>
            <a:ext cx="3700000" cy="175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35573" y="5541264"/>
            <a:ext cx="280397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Times New Roman"/>
              </a:defRPr>
            </a:pPr>
            <a:r>
              <a:rPr sz="1600" dirty="0"/>
              <a:t>Regional veterinary coverage </a:t>
            </a:r>
          </a:p>
        </p:txBody>
      </p:sp>
      <p:pic>
        <p:nvPicPr>
          <p:cNvPr id="11" name="Picture 10" descr="Screenshot 2026-10-31 0251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5360" y="3740000"/>
            <a:ext cx="3700000" cy="175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21541" y="5541264"/>
            <a:ext cx="35476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Times New Roman"/>
              </a:defRPr>
            </a:pPr>
            <a:r>
              <a:rPr sz="1600" dirty="0"/>
              <a:t>3-Stage AI engine &amp; model calibration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6D766-50C1-4B7C-E796-F3067CC3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5FAC0-2EAA-8E1B-B250-FA256F786D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fld id="{B6A08FA2-6E03-4978-AC29-B1ACFE8A3E2D}" type="slidenum">
              <a:rPr/>
              <a:t>14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3A6B6C-A39E-4C06-9A72-60A2139BDDC4}"/>
              </a:ext>
            </a:extLst>
          </p:cNvPr>
          <p:cNvSpPr>
            <a:spLocks noGrp="1"/>
          </p:cNvSpPr>
          <p:nvPr/>
        </p:nvSpPr>
        <p:spPr>
          <a:xfrm>
            <a:off x="838200" y="1851660"/>
            <a:ext cx="4983480" cy="260994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  <a:defRPr sz="16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prototype combines QR-based cattle identity, centralized digital records and personalized CHDI assessment. The reported evaluation indicates improved detection performance over the compared threshold-based and univariate approaches. It can support earlier identification of unusual health patterns and structured veterinary follow-up.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C45465-69EA-4E74-A57B-522DA4F6DBC3}"/>
              </a:ext>
            </a:extLst>
          </p:cNvPr>
          <p:cNvSpPr>
            <a:spLocks noGrp="1"/>
          </p:cNvSpPr>
          <p:nvPr/>
        </p:nvSpPr>
        <p:spPr>
          <a:xfrm>
            <a:off x="6217920" y="1645920"/>
            <a:ext cx="4846320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F0215F-5582-4573-9608-880D7A333574}"/>
              </a:ext>
            </a:extLst>
          </p:cNvPr>
          <p:cNvSpPr>
            <a:spLocks noGrp="1"/>
          </p:cNvSpPr>
          <p:nvPr/>
        </p:nvSpPr>
        <p:spPr>
          <a:xfrm>
            <a:off x="6217920" y="2148840"/>
            <a:ext cx="4846320" cy="2851550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SMS and WhatsApp alerts for cattle health risks and veterinary appointments.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Voice-based health logging in Tamil, Hindi and other regional languages.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5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Offline-first data capture and synchronization for low-connectivity farms.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buNone/>
              <a:defRPr sz="15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11030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31787-BEB0-6CE3-A1C7-209221092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440F2-CF62-1E11-C943-BB918F8257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  <a:defRPr sz="10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>
                <a:solidFill>
                  <a:srgbClr val="000000"/>
                </a:solidFill>
              </a:rPr>
              <a:t>31-10-2026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61EF9-FF3A-7AD8-3761-6A39C5BBAD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fld id="{B6A08FA2-6E03-4978-AC29-B1ACFE8A3E2D}" type="slidenum">
              <a:rPr/>
              <a:t>15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57288-1681-4BB1-AF32-F29DA5FEBBD8}"/>
              </a:ext>
            </a:extLst>
          </p:cNvPr>
          <p:cNvSpPr>
            <a:spLocks noGrp="1"/>
          </p:cNvSpPr>
          <p:nvPr/>
        </p:nvSpPr>
        <p:spPr>
          <a:xfrm>
            <a:off x="914400" y="1645920"/>
            <a:ext cx="10287000" cy="4005712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>
              <a:spcAft>
                <a:spcPts val="700"/>
              </a:spcAft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Ankitha et al., IoT and thermal-imaging approaches for clinical mastitis detection.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Aquilani et al., Review of Precision Livestock Farming technologies in pasture-based systems.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Bumbálek</a:t>
            </a: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al., Non-invasive cattle identification methods, including QR-code collars.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Curti et al., Machine-learning approaches using individual cow health records.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 Fan et al., Personalized anomaly detection for physiological telemetry.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[8] Garg et al., Multiparametric machine-learning models for early bovine disease prognosis.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 </a:t>
            </a:r>
            <a:r>
              <a:rPr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Hostens</a:t>
            </a: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al., Longitudinal dairy-cattle production and physiological dataset.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[15] Mehta et al., Selective classification and abstention in clinical machine learning.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[16] Pereira et al., Review of passive UHF RFID technologies for animal tracking.</a:t>
            </a:r>
          </a:p>
          <a:p>
            <a:pPr>
              <a:spcAft>
                <a:spcPts val="700"/>
              </a:spcAft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[20] Waldron, Statistical frame theory and multivariate anomaly detection in biotelemetry.</a:t>
            </a:r>
          </a:p>
        </p:txBody>
      </p:sp>
    </p:spTree>
    <p:extLst>
      <p:ext uri="{BB962C8B-B14F-4D97-AF65-F5344CB8AC3E}">
        <p14:creationId xmlns:p14="http://schemas.microsoft.com/office/powerpoint/2010/main" val="880114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1050</Words>
  <Application>Microsoft Office PowerPoint</Application>
  <DocSecurity>0</DocSecurity>
  <PresentationFormat>Widescreen</PresentationFormat>
  <Paragraphs>160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Department of Information Technology</vt:lpstr>
      <vt:lpstr>Abstract</vt:lpstr>
      <vt:lpstr>Introduction</vt:lpstr>
      <vt:lpstr>Existing System / Literature Review</vt:lpstr>
      <vt:lpstr>Objective of the project work</vt:lpstr>
      <vt:lpstr>Proposed System</vt:lpstr>
      <vt:lpstr>Architecture Diagram</vt:lpstr>
      <vt:lpstr>Technology Used</vt:lpstr>
      <vt:lpstr>Module Description</vt:lpstr>
      <vt:lpstr>Module Description</vt:lpstr>
      <vt:lpstr>Results &amp; Discussion</vt:lpstr>
      <vt:lpstr>Screenshots</vt:lpstr>
      <vt:lpstr>PowerPoint Presentation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Sabari Karthick</cp:lastModifiedBy>
  <cp:revision>6</cp:revision>
  <dcterms:created xsi:type="dcterms:W3CDTF">2026-10-30T21:18:39Z</dcterms:created>
  <dcterms:modified xsi:type="dcterms:W3CDTF">2026-10-31T02:03:41Z</dcterms:modified>
</cp:coreProperties>
</file>