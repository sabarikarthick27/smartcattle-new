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152CEA-CAAA-4103-8FD8-0BC5C1DE3EA3}" v="7" dt="2026-03-12T04:50:50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>
        <p:scale>
          <a:sx n="118" d="100"/>
          <a:sy n="118" d="100"/>
        </p:scale>
        <p:origin x="-246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hosh Kumar C" userId="87dcde48-8664-4a63-b5cd-43d78052eb24" providerId="ADAL" clId="{353E8B16-E742-486F-8C04-A6E2C1B0DCFB}"/>
    <pc:docChg chg="custSel addSld modSld">
      <pc:chgData name="Santhosh Kumar C" userId="87dcde48-8664-4a63-b5cd-43d78052eb24" providerId="ADAL" clId="{353E8B16-E742-486F-8C04-A6E2C1B0DCFB}" dt="2026-03-12T04:51:56.920" v="338" actId="20577"/>
      <pc:docMkLst>
        <pc:docMk/>
      </pc:docMkLst>
      <pc:sldChg chg="addSp modSp mod">
        <pc:chgData name="Santhosh Kumar C" userId="87dcde48-8664-4a63-b5cd-43d78052eb24" providerId="ADAL" clId="{353E8B16-E742-486F-8C04-A6E2C1B0DCFB}" dt="2026-03-12T04:49:51.485" v="311" actId="27636"/>
        <pc:sldMkLst>
          <pc:docMk/>
          <pc:sldMk cId="2178316820" sldId="256"/>
        </pc:sldMkLst>
        <pc:spChg chg="mod">
          <ac:chgData name="Santhosh Kumar C" userId="87dcde48-8664-4a63-b5cd-43d78052eb24" providerId="ADAL" clId="{353E8B16-E742-486F-8C04-A6E2C1B0DCFB}" dt="2026-03-12T04:43:26.848" v="16" actId="255"/>
          <ac:spMkLst>
            <pc:docMk/>
            <pc:sldMk cId="2178316820" sldId="256"/>
            <ac:spMk id="2" creationId="{D392C082-4783-3F0B-9EC6-25645937E192}"/>
          </ac:spMkLst>
        </pc:spChg>
        <pc:spChg chg="mod">
          <ac:chgData name="Santhosh Kumar C" userId="87dcde48-8664-4a63-b5cd-43d78052eb24" providerId="ADAL" clId="{353E8B16-E742-486F-8C04-A6E2C1B0DCFB}" dt="2026-03-12T04:49:51.485" v="311" actId="27636"/>
          <ac:spMkLst>
            <pc:docMk/>
            <pc:sldMk cId="2178316820" sldId="256"/>
            <ac:spMk id="3" creationId="{ACFEFCD3-3C75-35E2-D6EC-2AFC39620FD5}"/>
          </ac:spMkLst>
        </pc:spChg>
        <pc:spChg chg="mod">
          <ac:chgData name="Santhosh Kumar C" userId="87dcde48-8664-4a63-b5cd-43d78052eb24" providerId="ADAL" clId="{353E8B16-E742-486F-8C04-A6E2C1B0DCFB}" dt="2026-03-11T12:08:01.770" v="7" actId="2711"/>
          <ac:spMkLst>
            <pc:docMk/>
            <pc:sldMk cId="2178316820" sldId="256"/>
            <ac:spMk id="4" creationId="{83CB87B0-2C3A-FA84-0969-EAACF959DDFB}"/>
          </ac:spMkLst>
        </pc:spChg>
        <pc:spChg chg="mod">
          <ac:chgData name="Santhosh Kumar C" userId="87dcde48-8664-4a63-b5cd-43d78052eb24" providerId="ADAL" clId="{353E8B16-E742-486F-8C04-A6E2C1B0DCFB}" dt="2026-03-11T12:08:06.460" v="8" actId="2711"/>
          <ac:spMkLst>
            <pc:docMk/>
            <pc:sldMk cId="2178316820" sldId="256"/>
            <ac:spMk id="5" creationId="{8406C4D5-4260-EE20-5032-89C70841E0D2}"/>
          </ac:spMkLst>
        </pc:spChg>
        <pc:picChg chg="add mod">
          <ac:chgData name="Santhosh Kumar C" userId="87dcde48-8664-4a63-b5cd-43d78052eb24" providerId="ADAL" clId="{353E8B16-E742-486F-8C04-A6E2C1B0DCFB}" dt="2026-03-12T04:43:14.829" v="13" actId="14100"/>
          <ac:picMkLst>
            <pc:docMk/>
            <pc:sldMk cId="2178316820" sldId="256"/>
            <ac:picMk id="6" creationId="{CB474076-628F-3EFB-1343-490B0E773BE4}"/>
          </ac:picMkLst>
        </pc:picChg>
      </pc:sldChg>
      <pc:sldChg chg="modSp mod">
        <pc:chgData name="Santhosh Kumar C" userId="87dcde48-8664-4a63-b5cd-43d78052eb24" providerId="ADAL" clId="{353E8B16-E742-486F-8C04-A6E2C1B0DCFB}" dt="2026-03-12T04:48:59.547" v="277" actId="2710"/>
        <pc:sldMkLst>
          <pc:docMk/>
          <pc:sldMk cId="2683659159" sldId="257"/>
        </pc:sldMkLst>
        <pc:spChg chg="mod">
          <ac:chgData name="Santhosh Kumar C" userId="87dcde48-8664-4a63-b5cd-43d78052eb24" providerId="ADAL" clId="{353E8B16-E742-486F-8C04-A6E2C1B0DCFB}" dt="2026-03-11T12:07:48.114" v="6" actId="2711"/>
          <ac:spMkLst>
            <pc:docMk/>
            <pc:sldMk cId="2683659159" sldId="257"/>
            <ac:spMk id="2" creationId="{1F235BF5-1452-0F40-5060-BBF6D5B63974}"/>
          </ac:spMkLst>
        </pc:spChg>
        <pc:spChg chg="mod">
          <ac:chgData name="Santhosh Kumar C" userId="87dcde48-8664-4a63-b5cd-43d78052eb24" providerId="ADAL" clId="{353E8B16-E742-486F-8C04-A6E2C1B0DCFB}" dt="2026-03-12T04:48:59.547" v="277" actId="2710"/>
          <ac:spMkLst>
            <pc:docMk/>
            <pc:sldMk cId="2683659159" sldId="257"/>
            <ac:spMk id="3" creationId="{7B08A0E4-B4B7-4C97-19C6-AB43299E67F1}"/>
          </ac:spMkLst>
        </pc:spChg>
      </pc:sldChg>
      <pc:sldChg chg="modSp mod">
        <pc:chgData name="Santhosh Kumar C" userId="87dcde48-8664-4a63-b5cd-43d78052eb24" providerId="ADAL" clId="{353E8B16-E742-486F-8C04-A6E2C1B0DCFB}" dt="2026-03-12T04:49:12.033" v="278"/>
        <pc:sldMkLst>
          <pc:docMk/>
          <pc:sldMk cId="2897999778" sldId="258"/>
        </pc:sldMkLst>
        <pc:spChg chg="mod">
          <ac:chgData name="Santhosh Kumar C" userId="87dcde48-8664-4a63-b5cd-43d78052eb24" providerId="ADAL" clId="{353E8B16-E742-486F-8C04-A6E2C1B0DCFB}" dt="2026-03-12T04:45:01.225" v="29" actId="2711"/>
          <ac:spMkLst>
            <pc:docMk/>
            <pc:sldMk cId="2897999778" sldId="258"/>
            <ac:spMk id="2" creationId="{E6A128A0-978F-3912-AED8-E758C1208B21}"/>
          </ac:spMkLst>
        </pc:spChg>
        <pc:spChg chg="mod">
          <ac:chgData name="Santhosh Kumar C" userId="87dcde48-8664-4a63-b5cd-43d78052eb24" providerId="ADAL" clId="{353E8B16-E742-486F-8C04-A6E2C1B0DCFB}" dt="2026-03-12T04:49:12.033" v="278"/>
          <ac:spMkLst>
            <pc:docMk/>
            <pc:sldMk cId="2897999778" sldId="258"/>
            <ac:spMk id="3" creationId="{496989CE-3BFA-7AA3-FCC8-DA9D29AA8D80}"/>
          </ac:spMkLst>
        </pc:spChg>
      </pc:sldChg>
      <pc:sldChg chg="modSp add mod">
        <pc:chgData name="Santhosh Kumar C" userId="87dcde48-8664-4a63-b5cd-43d78052eb24" providerId="ADAL" clId="{353E8B16-E742-486F-8C04-A6E2C1B0DCFB}" dt="2026-03-12T04:45:18.886" v="65" actId="20577"/>
        <pc:sldMkLst>
          <pc:docMk/>
          <pc:sldMk cId="1303480564" sldId="259"/>
        </pc:sldMkLst>
        <pc:spChg chg="mod">
          <ac:chgData name="Santhosh Kumar C" userId="87dcde48-8664-4a63-b5cd-43d78052eb24" providerId="ADAL" clId="{353E8B16-E742-486F-8C04-A6E2C1B0DCFB}" dt="2026-03-12T04:45:18.886" v="65" actId="20577"/>
          <ac:spMkLst>
            <pc:docMk/>
            <pc:sldMk cId="1303480564" sldId="259"/>
            <ac:spMk id="2" creationId="{8F8961C5-9785-5F5D-A824-6D3D79C47162}"/>
          </ac:spMkLst>
        </pc:spChg>
      </pc:sldChg>
      <pc:sldChg chg="modSp add mod">
        <pc:chgData name="Santhosh Kumar C" userId="87dcde48-8664-4a63-b5cd-43d78052eb24" providerId="ADAL" clId="{353E8B16-E742-486F-8C04-A6E2C1B0DCFB}" dt="2026-03-12T04:45:38.243" v="90" actId="20577"/>
        <pc:sldMkLst>
          <pc:docMk/>
          <pc:sldMk cId="1380028328" sldId="260"/>
        </pc:sldMkLst>
        <pc:spChg chg="mod">
          <ac:chgData name="Santhosh Kumar C" userId="87dcde48-8664-4a63-b5cd-43d78052eb24" providerId="ADAL" clId="{353E8B16-E742-486F-8C04-A6E2C1B0DCFB}" dt="2026-03-12T04:45:38.243" v="90" actId="20577"/>
          <ac:spMkLst>
            <pc:docMk/>
            <pc:sldMk cId="1380028328" sldId="260"/>
            <ac:spMk id="2" creationId="{D67309D1-5FA4-C3B4-988B-19C978BABD67}"/>
          </ac:spMkLst>
        </pc:spChg>
      </pc:sldChg>
      <pc:sldChg chg="modSp add mod">
        <pc:chgData name="Santhosh Kumar C" userId="87dcde48-8664-4a63-b5cd-43d78052eb24" providerId="ADAL" clId="{353E8B16-E742-486F-8C04-A6E2C1B0DCFB}" dt="2026-03-12T04:45:47.446" v="92" actId="6549"/>
        <pc:sldMkLst>
          <pc:docMk/>
          <pc:sldMk cId="1055599157" sldId="261"/>
        </pc:sldMkLst>
        <pc:spChg chg="mod">
          <ac:chgData name="Santhosh Kumar C" userId="87dcde48-8664-4a63-b5cd-43d78052eb24" providerId="ADAL" clId="{353E8B16-E742-486F-8C04-A6E2C1B0DCFB}" dt="2026-03-12T04:45:47.446" v="92" actId="6549"/>
          <ac:spMkLst>
            <pc:docMk/>
            <pc:sldMk cId="1055599157" sldId="261"/>
            <ac:spMk id="2" creationId="{2C056090-75FC-2EC9-C6A4-C9D9BA5CE124}"/>
          </ac:spMkLst>
        </pc:spChg>
      </pc:sldChg>
      <pc:sldChg chg="modSp add mod">
        <pc:chgData name="Santhosh Kumar C" userId="87dcde48-8664-4a63-b5cd-43d78052eb24" providerId="ADAL" clId="{353E8B16-E742-486F-8C04-A6E2C1B0DCFB}" dt="2026-03-12T04:45:57.481" v="113" actId="20577"/>
        <pc:sldMkLst>
          <pc:docMk/>
          <pc:sldMk cId="3472156200" sldId="262"/>
        </pc:sldMkLst>
        <pc:spChg chg="mod">
          <ac:chgData name="Santhosh Kumar C" userId="87dcde48-8664-4a63-b5cd-43d78052eb24" providerId="ADAL" clId="{353E8B16-E742-486F-8C04-A6E2C1B0DCFB}" dt="2026-03-12T04:45:57.481" v="113" actId="20577"/>
          <ac:spMkLst>
            <pc:docMk/>
            <pc:sldMk cId="3472156200" sldId="262"/>
            <ac:spMk id="2" creationId="{2E75D0DE-F343-7DE5-EBEA-9FD0BC7374CA}"/>
          </ac:spMkLst>
        </pc:spChg>
      </pc:sldChg>
      <pc:sldChg chg="modSp add mod">
        <pc:chgData name="Santhosh Kumar C" userId="87dcde48-8664-4a63-b5cd-43d78052eb24" providerId="ADAL" clId="{353E8B16-E742-486F-8C04-A6E2C1B0DCFB}" dt="2026-03-12T04:46:14.494" v="129" actId="20577"/>
        <pc:sldMkLst>
          <pc:docMk/>
          <pc:sldMk cId="49571734" sldId="263"/>
        </pc:sldMkLst>
        <pc:spChg chg="mod">
          <ac:chgData name="Santhosh Kumar C" userId="87dcde48-8664-4a63-b5cd-43d78052eb24" providerId="ADAL" clId="{353E8B16-E742-486F-8C04-A6E2C1B0DCFB}" dt="2026-03-12T04:46:14.494" v="129" actId="20577"/>
          <ac:spMkLst>
            <pc:docMk/>
            <pc:sldMk cId="49571734" sldId="263"/>
            <ac:spMk id="2" creationId="{A58EEA52-A052-EF6E-B37A-CDFA7152C630}"/>
          </ac:spMkLst>
        </pc:spChg>
      </pc:sldChg>
      <pc:sldChg chg="modSp add mod">
        <pc:chgData name="Santhosh Kumar C" userId="87dcde48-8664-4a63-b5cd-43d78052eb24" providerId="ADAL" clId="{353E8B16-E742-486F-8C04-A6E2C1B0DCFB}" dt="2026-03-12T04:46:38.957" v="156" actId="313"/>
        <pc:sldMkLst>
          <pc:docMk/>
          <pc:sldMk cId="2214384354" sldId="264"/>
        </pc:sldMkLst>
        <pc:spChg chg="mod">
          <ac:chgData name="Santhosh Kumar C" userId="87dcde48-8664-4a63-b5cd-43d78052eb24" providerId="ADAL" clId="{353E8B16-E742-486F-8C04-A6E2C1B0DCFB}" dt="2026-03-12T04:46:38.957" v="156" actId="313"/>
          <ac:spMkLst>
            <pc:docMk/>
            <pc:sldMk cId="2214384354" sldId="264"/>
            <ac:spMk id="2" creationId="{5355786D-47F7-8FE9-D42F-90D307C4FD97}"/>
          </ac:spMkLst>
        </pc:spChg>
      </pc:sldChg>
      <pc:sldChg chg="add">
        <pc:chgData name="Santhosh Kumar C" userId="87dcde48-8664-4a63-b5cd-43d78052eb24" providerId="ADAL" clId="{353E8B16-E742-486F-8C04-A6E2C1B0DCFB}" dt="2026-03-12T04:46:41.835" v="157" actId="2890"/>
        <pc:sldMkLst>
          <pc:docMk/>
          <pc:sldMk cId="3169942119" sldId="265"/>
        </pc:sldMkLst>
      </pc:sldChg>
      <pc:sldChg chg="modSp add mod">
        <pc:chgData name="Santhosh Kumar C" userId="87dcde48-8664-4a63-b5cd-43d78052eb24" providerId="ADAL" clId="{353E8B16-E742-486F-8C04-A6E2C1B0DCFB}" dt="2026-03-12T04:47:04.619" v="180" actId="20577"/>
        <pc:sldMkLst>
          <pc:docMk/>
          <pc:sldMk cId="3442820598" sldId="266"/>
        </pc:sldMkLst>
        <pc:spChg chg="mod">
          <ac:chgData name="Santhosh Kumar C" userId="87dcde48-8664-4a63-b5cd-43d78052eb24" providerId="ADAL" clId="{353E8B16-E742-486F-8C04-A6E2C1B0DCFB}" dt="2026-03-12T04:47:04.619" v="180" actId="20577"/>
          <ac:spMkLst>
            <pc:docMk/>
            <pc:sldMk cId="3442820598" sldId="266"/>
            <ac:spMk id="2" creationId="{4213388F-FF35-2D83-4D3B-039D6B5A0972}"/>
          </ac:spMkLst>
        </pc:spChg>
      </pc:sldChg>
      <pc:sldChg chg="modSp add mod">
        <pc:chgData name="Santhosh Kumar C" userId="87dcde48-8664-4a63-b5cd-43d78052eb24" providerId="ADAL" clId="{353E8B16-E742-486F-8C04-A6E2C1B0DCFB}" dt="2026-03-12T04:47:15.970" v="196" actId="20577"/>
        <pc:sldMkLst>
          <pc:docMk/>
          <pc:sldMk cId="901834013" sldId="267"/>
        </pc:sldMkLst>
        <pc:spChg chg="mod">
          <ac:chgData name="Santhosh Kumar C" userId="87dcde48-8664-4a63-b5cd-43d78052eb24" providerId="ADAL" clId="{353E8B16-E742-486F-8C04-A6E2C1B0DCFB}" dt="2026-03-12T04:47:15.970" v="196" actId="20577"/>
          <ac:spMkLst>
            <pc:docMk/>
            <pc:sldMk cId="901834013" sldId="267"/>
            <ac:spMk id="2" creationId="{4155D1A6-9E48-6BC3-2E99-BD8D4E964467}"/>
          </ac:spMkLst>
        </pc:spChg>
      </pc:sldChg>
      <pc:sldChg chg="modSp add mod">
        <pc:chgData name="Santhosh Kumar C" userId="87dcde48-8664-4a63-b5cd-43d78052eb24" providerId="ADAL" clId="{353E8B16-E742-486F-8C04-A6E2C1B0DCFB}" dt="2026-03-12T04:48:05.408" v="246" actId="255"/>
        <pc:sldMkLst>
          <pc:docMk/>
          <pc:sldMk cId="3711030567" sldId="268"/>
        </pc:sldMkLst>
        <pc:spChg chg="mod">
          <ac:chgData name="Santhosh Kumar C" userId="87dcde48-8664-4a63-b5cd-43d78052eb24" providerId="ADAL" clId="{353E8B16-E742-486F-8C04-A6E2C1B0DCFB}" dt="2026-03-12T04:47:24.203" v="207" actId="20577"/>
          <ac:spMkLst>
            <pc:docMk/>
            <pc:sldMk cId="3711030567" sldId="268"/>
            <ac:spMk id="2" creationId="{44A6D766-50C1-4B7C-E796-F3067CC34656}"/>
          </ac:spMkLst>
        </pc:spChg>
        <pc:spChg chg="mod">
          <ac:chgData name="Santhosh Kumar C" userId="87dcde48-8664-4a63-b5cd-43d78052eb24" providerId="ADAL" clId="{353E8B16-E742-486F-8C04-A6E2C1B0DCFB}" dt="2026-03-12T04:48:05.408" v="246" actId="255"/>
          <ac:spMkLst>
            <pc:docMk/>
            <pc:sldMk cId="3711030567" sldId="268"/>
            <ac:spMk id="3" creationId="{A2067BF4-5141-EA81-9E2C-1D1B8928214F}"/>
          </ac:spMkLst>
        </pc:spChg>
      </pc:sldChg>
      <pc:sldChg chg="modSp add mod">
        <pc:chgData name="Santhosh Kumar C" userId="87dcde48-8664-4a63-b5cd-43d78052eb24" providerId="ADAL" clId="{353E8B16-E742-486F-8C04-A6E2C1B0DCFB}" dt="2026-03-12T04:47:36.580" v="218" actId="20577"/>
        <pc:sldMkLst>
          <pc:docMk/>
          <pc:sldMk cId="880114808" sldId="269"/>
        </pc:sldMkLst>
        <pc:spChg chg="mod">
          <ac:chgData name="Santhosh Kumar C" userId="87dcde48-8664-4a63-b5cd-43d78052eb24" providerId="ADAL" clId="{353E8B16-E742-486F-8C04-A6E2C1B0DCFB}" dt="2026-03-12T04:47:36.580" v="218" actId="20577"/>
          <ac:spMkLst>
            <pc:docMk/>
            <pc:sldMk cId="880114808" sldId="269"/>
            <ac:spMk id="2" creationId="{93631787-BEB0-6CE3-A1C7-2092210922DF}"/>
          </ac:spMkLst>
        </pc:spChg>
      </pc:sldChg>
      <pc:sldChg chg="add">
        <pc:chgData name="Santhosh Kumar C" userId="87dcde48-8664-4a63-b5cd-43d78052eb24" providerId="ADAL" clId="{353E8B16-E742-486F-8C04-A6E2C1B0DCFB}" dt="2026-03-12T04:51:30.571" v="312" actId="2890"/>
        <pc:sldMkLst>
          <pc:docMk/>
          <pc:sldMk cId="3051079905" sldId="270"/>
        </pc:sldMkLst>
      </pc:sldChg>
      <pc:sldChg chg="modSp add mod">
        <pc:chgData name="Santhosh Kumar C" userId="87dcde48-8664-4a63-b5cd-43d78052eb24" providerId="ADAL" clId="{353E8B16-E742-486F-8C04-A6E2C1B0DCFB}" dt="2026-03-12T04:51:56.920" v="338" actId="20577"/>
        <pc:sldMkLst>
          <pc:docMk/>
          <pc:sldMk cId="1151011599" sldId="271"/>
        </pc:sldMkLst>
        <pc:spChg chg="mod">
          <ac:chgData name="Santhosh Kumar C" userId="87dcde48-8664-4a63-b5cd-43d78052eb24" providerId="ADAL" clId="{353E8B16-E742-486F-8C04-A6E2C1B0DCFB}" dt="2026-03-12T04:51:56.920" v="338" actId="20577"/>
          <ac:spMkLst>
            <pc:docMk/>
            <pc:sldMk cId="1151011599" sldId="271"/>
            <ac:spMk id="2" creationId="{2CEC8812-C937-B75E-CFCC-09C8F3A1EDD2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F1527-CF75-4ADD-964D-23824D0C4D42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A11F4-993D-4EA1-B926-BC56BD08B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25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DBCB6B-B384-B63C-E6B3-70D7C6E0F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F15396A-6A6E-FD2F-135E-54C74A5A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3590431-2646-39AE-5B70-75072E86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22C2-4810-46D2-89A2-14EBC0D40961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4D570FC-F0E0-A8BB-01C4-9A869161D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8AE2177-A0F4-2EC9-3F74-9B918012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73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D62323-F767-4984-DB3E-9AF48914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49EC59-F5BB-ABAC-2505-365B04285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640A65A-B2A2-895A-BBC5-8BD8B928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DE86-EDAA-4F84-8673-E7BB0683A4F7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7C6C835-ECA6-955F-C13F-B7B7D3BC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15318D8-32C6-872F-1062-BB0995AF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15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C41140-3A67-3CB5-B87C-91E440C8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729AB90-23C1-EF9D-EA7B-94812F45B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FC936AF-022E-3138-70AD-8FD6704E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F39BE-13B1-4CC6-B136-BCD44CD778BD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FCA8139-F08F-EF16-C3D2-47BBE6AE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3908CDB-BAB6-82BD-E8AD-6204110B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06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C857E8-C7FF-7D07-D10D-AD74E50A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9E14AEB-EAD4-F1F3-09AB-7C79C3EC0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1364CD8-096B-5FF2-16A2-0288833EF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D0DD45E-F94D-8C02-4756-2DE0F015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6883-6448-457C-B56F-E31A4C82733F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631BB58-2F28-0954-0006-EF63C4D6F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6D141D8-8632-826F-6108-C63D3779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8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2CF1C5-351C-FF0F-4338-E296EA0D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E8F800C-A22E-07E4-ACA7-1BCA7A640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B89109E-4EED-AF9F-E4CC-A6BAF3593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921F598-7281-8993-86CE-12E794B7E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774B5926-C830-F889-52FD-11A49525F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58A8871D-0C56-66EF-5227-AF00D2C1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816C9-4412-4B42-8150-7782C059C0A5}" type="datetime1">
              <a:rPr lang="en-IN" smtClean="0"/>
              <a:t>30-10-2026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C55ECAC-8541-7701-6CBF-C52991430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B83F4D3-1374-F288-6B25-C2F75408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55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C39B7B-E72F-0669-9EF9-0D7AFEE0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9E10186-1D54-8984-1D4F-E8CF8D46F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EB682-B852-4724-B44C-52FB3AA0E5E8}" type="datetime1">
              <a:rPr lang="en-IN" smtClean="0"/>
              <a:t>30-10-2026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E15DFF5-64AE-6089-5338-3F391FF5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27E70BE-9463-6277-FFA7-93A4CAF7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66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5213697-BB8B-148B-CF69-4037E1FF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D49F2-F942-4B20-AFC5-0E3AD4B7694F}" type="datetime1">
              <a:rPr lang="en-IN" smtClean="0"/>
              <a:t>30-10-2026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286B66B-09BC-B532-2E93-D79A1B7B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B5E936B-7931-3A83-AB29-ECEAECFA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57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21CC7B-2812-6839-E0D8-139C0D05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D51E903-3A28-0F27-45D8-D2B7B0D3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D9DD839-1AE7-A11E-874E-C48E74BEF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B8581AE-9EBD-8F1F-10EE-19CC728C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4F94-2DD5-4CDE-BF50-493F2A3266D7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0C44418-1993-F843-348C-42E871BB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9CF6435-C09E-7D13-4F30-508D77CE5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00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343CD1-5410-1DA9-7228-B2F018E7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A9D01CA9-B7C7-25AD-3E52-2F3724315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01427CD-AF08-3726-8FAA-A57C00643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EF0F8AC-9193-3066-579C-5D371F12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F964-07F3-48B0-9FEC-183785D2821F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04E56E-7994-6879-393B-FB1D8179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E373E1B-ACEA-671B-9925-98DDD4FAF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95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793DC8-4DED-7E64-5035-8876855E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D59E2D9-241D-EEDB-63A9-B2A35C9BE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02493B7-E45B-1998-1F3A-78743F9F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74B32-A9E9-4276-83A7-902B7F400383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BD7813D-479D-AF61-49FB-BA944D691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3B85E31-541B-32EB-2A5E-5FC484A1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07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5D5D4A72-8FC8-9FFA-D79F-1B931E3FD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A057D4D-DE4F-040D-4D5E-3046AFB04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1A328EC-F0C7-659F-D01A-C22DB719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84DC-9173-4658-B3EA-269020D94500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597EEA2-E42A-72B3-2DA9-F7E5ADD6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3FE1EB3-A802-EFC6-7F9A-7F27D9085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7857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91894CF-7A3B-86AF-DA5E-FE17EDF8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F1184D8-6BAE-2DDC-B3F5-B2B6DAD44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D9A6D96-2E95-9CD4-FCD4-89256033E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D9282-2D87-4F06-BAC4-DC8B14CE8012}" type="datetime1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50DBF4B-1096-A70D-93E6-D7C942169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9129B82-16DD-C092-3F81-633D338DB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52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392C082-4783-3F0B-9EC6-25645937E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3671" y="0"/>
            <a:ext cx="8279129" cy="1122363"/>
          </a:xfrm>
          <a:ln>
            <a:solidFill>
              <a:schemeClr val="accent1">
                <a:lumMod val="75000"/>
              </a:schemeClr>
            </a:solidFill>
          </a:ln>
        </p:spPr>
        <p:txBody>
          <a:bodyPr anchor="ctr">
            <a:no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SONA COLLEGE OF TECHNOLOGY, SALEM</a:t>
            </a:r>
          </a:p>
          <a:p>
            <a:pPr algn="ctr">
              <a:defRPr sz="2000" b="1">
                <a:solidFill>
                  <a:srgbClr val="0F172A"/>
                </a:solidFill>
              </a:defRPr>
            </a:pPr>
            <a:r>
              <a:t>Department of Information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CFEFCD3-3C75-35E2-D6EC-2AFC39620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99383"/>
            <a:ext cx="12191999" cy="1655762"/>
          </a:xfrm>
        </p:spPr>
        <p:txBody>
          <a:bodyPr>
            <a:normAutofit/>
          </a:bodyPr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SMARTCATTLE: AI-DRIVEN CATTLE HEALTH MONITORING &amp; VETERINARY TELE-TRIAGE SYSTEM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E601AF6C-F3EB-977E-9DB3-2754D7377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693671" cy="112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3CB87B0-2C3A-FA84-0969-EAACF959DDFB}"/>
              </a:ext>
            </a:extLst>
          </p:cNvPr>
          <p:cNvSpPr txBox="1"/>
          <p:nvPr/>
        </p:nvSpPr>
        <p:spPr>
          <a:xfrm>
            <a:off x="445477" y="5158617"/>
            <a:ext cx="3516923" cy="120032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Project Guide: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Ms. J. Deepika,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Assistant Professor,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Department of 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406C4D5-4260-EE20-5032-89C70841E0D2}"/>
              </a:ext>
            </a:extLst>
          </p:cNvPr>
          <p:cNvSpPr txBox="1"/>
          <p:nvPr/>
        </p:nvSpPr>
        <p:spPr>
          <a:xfrm>
            <a:off x="7748954" y="5158617"/>
            <a:ext cx="4088718" cy="147732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Project Team Members: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Sabari Karthick A (61782323110093)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Sivanarasimman S (61782323110103)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Sujeeth Y R (61782323110107)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B474076-628F-3EFB-1343-490B0E773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1219199" cy="1211016"/>
          </a:xfrm>
          <a:prstGeom prst="rect">
            <a:avLst/>
          </a:prstGeom>
        </p:spPr>
      </p:pic>
      <p:pic>
        <p:nvPicPr>
          <p:cNvPr id="1027" name="Picture 10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975104" cy="822960"/>
          </a:xfrm>
          <a:prstGeom prst="rect">
            <a:avLst/>
          </a:prstGeom>
        </p:spPr>
      </p:pic>
      <p:pic>
        <p:nvPicPr>
          <p:cNvPr id="1028" name="Picture 10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65760"/>
            <a:ext cx="828521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1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235BF5-1452-0F40-5060-BBF6D5B6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B08A0E4-B4B7-4C97-19C6-AB43299E6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b="1" sz="1300">
                <a:solidFill>
                  <a:srgbClr val="0F172A"/>
                </a:solidFill>
              </a:rPr>
              <a:t>Low-Cost Optical Identification: </a:t>
            </a:r>
            <a:r>
              <a:rPr b="0" sz="1300">
                <a:solidFill>
                  <a:srgbClr val="334155"/>
                </a:solidFill>
              </a:rPr>
              <a:t>Replaces expensive, fragile electronic wearable sensors with durable, weatherproof 2D QR ear tags for instant cattle lookup.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Unified Digital Health Records: </a:t>
            </a:r>
            <a:r>
              <a:rPr b="0" sz="1300">
                <a:solidFill>
                  <a:srgbClr val="334155"/>
                </a:solidFill>
              </a:rPr>
              <a:t>Consolidates cow profiles, lactation cycles, milk yield, feed intake, vaccination schedules, and clinical treatments into a single web application.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Personalized Health Baselines: </a:t>
            </a:r>
            <a:r>
              <a:rPr b="0" sz="1300">
                <a:solidFill>
                  <a:srgbClr val="334155"/>
                </a:solidFill>
              </a:rPr>
              <a:t>Learns the unique physiological baseline for each individual cow instead of relying on generic, misleading breed averages.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Early Anomaly Scoring (CHDI): </a:t>
            </a:r>
            <a:r>
              <a:rPr b="0" sz="1300">
                <a:solidFill>
                  <a:srgbClr val="334155"/>
                </a:solidFill>
              </a:rPr>
              <a:t>Computes a Cattle Health Deviation Index (0–100) to detect illness (Mastitis, Ketosis, Pyrexia) 24 to 48 hours prior to acute clinical symptoms.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Closed-Loop Tele-Triage &amp; Retraining: </a:t>
            </a:r>
            <a:r>
              <a:rPr b="0" sz="1300">
                <a:solidFill>
                  <a:srgbClr val="334155"/>
                </a:solidFill>
              </a:rPr>
              <a:t>Dispatches emergency cases directly to regional district veterinarians, incorporating doctor diagnosis feedback into an adaptive ML pipeline (89.8% F1-score).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EECAC99-F55F-638C-3095-FC6C74D64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B08EF-4B33-492B-AA33-D3BC419B1759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5BBB4F7-214D-32C8-2ACB-F479653B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65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6A128A0-978F-3912-AED8-E758C120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96989CE-3BFA-7AA3-FCC8-DA9D29AA8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b="1" sz="1300">
                <a:solidFill>
                  <a:srgbClr val="0F172A"/>
                </a:solidFill>
              </a:rPr>
              <a:t>Vital Economic Pillar: </a:t>
            </a:r>
            <a:r>
              <a:rPr b="0" sz="1300">
                <a:solidFill>
                  <a:srgbClr val="334155"/>
                </a:solidFill>
              </a:rPr>
              <a:t>Dairy farming constitutes the livelihood and economic backbone of millions of smallholder rural households across Tamil Nadu and India.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The Diagnostic Gap: </a:t>
            </a:r>
            <a:r>
              <a:rPr b="0" sz="1300">
                <a:solidFill>
                  <a:srgbClr val="334155"/>
                </a:solidFill>
              </a:rPr>
              <a:t>Smallholder farmers currently depend on visible signs of sickness (severe milk drop, recumbency, high fever), which appear only in advanced, high-loss disease stages.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Veterinary Distance &amp; Delay: </a:t>
            </a:r>
            <a:r>
              <a:rPr b="0" sz="1300">
                <a:solidFill>
                  <a:srgbClr val="334155"/>
                </a:solidFill>
              </a:rPr>
              <a:t>Rural geographic distance delays physical veterinary visits by 24–48 hours, encouraging unguided antibiotic misuse and permanent cattle mortality.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The SmartCattle Vision: </a:t>
            </a:r>
            <a:r>
              <a:rPr b="0" sz="1300">
                <a:solidFill>
                  <a:srgbClr val="334155"/>
                </a:solidFill>
              </a:rPr>
              <a:t>A proactive, zero-hardware web intelligence platform that pairs simple QR mobile logging with machine learning to bridge rural dairy farmers with qualified district veterinarians.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7060253-485B-A551-20D4-2831B7AFD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FFA2-BF4E-4986-8EDC-B62F31D50825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7086A39-8288-5B56-EB37-ED1CF52E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99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445CE57-A437-995E-40EC-33205D8F9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8961C5-9785-5F5D-A824-6D3D79C4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/ Literature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EB7DB1B-800E-88D9-7E0A-B78ED9D8C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Manual Observation Practice: </a:t>
            </a:r>
            <a:r>
              <a:rPr b="0" sz="1300">
                <a:solidFill>
                  <a:srgbClr val="334155"/>
                </a:solidFill>
              </a:rPr>
              <a:t>Farmers rely on manual memory and paper notebooks; subtle subclinical health declines are routinely missed.</a:t>
            </a:r>
            <a:endParaRPr lang="en-IN"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High-Cost Wearable Sensors: </a:t>
            </a:r>
            <a:r>
              <a:rPr b="0" sz="1300">
                <a:solidFill>
                  <a:srgbClr val="334155"/>
                </a:solidFill>
              </a:rPr>
              <a:t>Academic IoT neck collars and boluses cost $150–$300 per head, suffer battery exhaustion, and are unaffordable for smallholder farmers (Mahmud et al., 2021).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Static Global Thresholds: </a:t>
            </a:r>
            <a:r>
              <a:rPr b="0" sz="1300">
                <a:solidFill>
                  <a:srgbClr val="334155"/>
                </a:solidFill>
              </a:rPr>
              <a:t>Existing rule-based tools use rigid global thresholds (e.g., fixed body temperature) that trigger frequent false alarms due to natural breed and seasonal variations.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Absence of Doctor Feedback Loop: </a:t>
            </a:r>
            <a:r>
              <a:rPr b="0" sz="1300">
                <a:solidFill>
                  <a:srgbClr val="334155"/>
                </a:solidFill>
              </a:rPr>
              <a:t>Traditional monitoring software lacks veterinary decision support; doctor clinical findings are never fed back to calibrate diagnostic models (Rutten et al., 2013).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EF5A9CA-4E21-9C6A-37FE-DBC72542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DAD1B-2C4A-45CA-8ED9-F88A03D644DC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CC87E7A-B989-2083-5B23-0F82EB1D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48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18EAE8B-1AC6-981A-4156-2D634D2B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7309D1-5FA4-C3B4-988B-19C978BA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 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D1AEF3E-DBE8-5902-C8F9-2B8530C0D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Zero-Hardware Animal Identification: </a:t>
            </a:r>
            <a:r>
              <a:rPr b="0" sz="1300">
                <a:solidFill>
                  <a:srgbClr val="334155"/>
                </a:solidFill>
              </a:rPr>
              <a:t>Deploy printable weatherproof 2D QR ear tags enabling instant smartphone camera lookup with zero on-animal electronic sensor cost.</a:t>
            </a:r>
            <a:endParaRPr lang="en-IN" dirty="0"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Formulate Personalized CHDI Metric: </a:t>
            </a:r>
            <a:r>
              <a:rPr b="0" sz="1300">
                <a:solidFill>
                  <a:srgbClr val="334155"/>
                </a:solidFill>
              </a:rPr>
              <a:t>Compute the Cattle Health Deviation Index (0–100) using individual 7-to-14 day rolling baselines for milk yield, temperature, feed, and rumination.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Subclinical Disease Detection: </a:t>
            </a:r>
            <a:r>
              <a:rPr b="0" sz="1300">
                <a:solidFill>
                  <a:srgbClr val="334155"/>
                </a:solidFill>
              </a:rPr>
              <a:t>Detect the onset of Acute Mastitis, Ketosis, and Bovine Pyrexia 24 to 48 hours before visible physical symptoms emerge.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One-Click Regional Tele-Triage: </a:t>
            </a:r>
            <a:r>
              <a:rPr b="0" sz="1300">
                <a:solidFill>
                  <a:srgbClr val="334155"/>
                </a:solidFill>
              </a:rPr>
              <a:t>Enable farmers to dispatch emergency triage requests to their preferred or nearest district veterinarians with priority sorting (Critical, High, Routine).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Digital Prescriptions &amp; Treatment Tracking: </a:t>
            </a:r>
            <a:r>
              <a:rPr b="0" sz="1300">
                <a:solidFill>
                  <a:srgbClr val="334155"/>
                </a:solidFill>
              </a:rPr>
              <a:t>Maintain an auditable record of veterinary diagnoses, prescribed medicines, dosages, treatment duration, and upcoming vaccination dates.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Doctor-in-the-Loop Machine Learning: </a:t>
            </a:r>
            <a:r>
              <a:rPr b="0" sz="1300">
                <a:solidFill>
                  <a:srgbClr val="334155"/>
                </a:solidFill>
              </a:rPr>
              <a:t>Continuously retrain and calibrate anomaly detection models using verified field diagnosis logs to suppress false alarms.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6C7E554-0833-5491-3ECD-D22DD91B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ACDF-E38B-4624-AF1A-F523D2494E60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C51192-1B20-075D-6590-99B6D982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02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A5E0C78-97D6-596B-5322-9AF9F902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056090-75FC-2EC9-C6A4-C9D9BA5C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F670E6-CC87-0FC5-F81A-CECDF1395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Tripartite Web Platform: </a:t>
            </a:r>
            <a:r>
              <a:rPr b="0" sz="1300">
                <a:solidFill>
                  <a:srgbClr val="334155"/>
                </a:solidFill>
              </a:rPr>
              <a:t>Unified role-based ecosystem serving Dairy Farmers, Certified District Veterinarians, and Administrative Overseers.</a:t>
            </a:r>
            <a:endParaRPr lang="en-IN"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Instant Camera QR Logging: </a:t>
            </a:r>
            <a:r>
              <a:rPr b="0" sz="1300">
                <a:solidFill>
                  <a:srgbClr val="334155"/>
                </a:solidFill>
              </a:rPr>
              <a:t>Farmers scan ear tags using any standard smartphone camera (zero app download required) to view cattle history and log daily vitals in seconds.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3-Stage Analytical Pipeline: </a:t>
            </a:r>
            <a:r>
              <a:rPr b="0" sz="1300">
                <a:solidFill>
                  <a:srgbClr val="334155"/>
                </a:solidFill>
              </a:rPr>
              <a:t>Stage 1: Individual Rolling Baseline Forecasting | Stage 2: Multivariate Anomaly Detection | Stage 3: Doctor Feedback Retraining.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Automated Triage Stratification: </a:t>
            </a:r>
            <a:r>
              <a:rPr b="0" sz="1300">
                <a:solidFill>
                  <a:srgbClr val="334155"/>
                </a:solidFill>
              </a:rPr>
              <a:t>Classifies cattle health into Healthy (≥80), Watch (60–79), and Critical (&lt;60), automatically routing at-risk cases to the emergency veterinary queue.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Regional Coverage Management: </a:t>
            </a:r>
            <a:r>
              <a:rPr b="0" sz="1300">
                <a:solidFill>
                  <a:srgbClr val="334155"/>
                </a:solidFill>
              </a:rPr>
              <a:t>Admin module mapping qualified veterinarians to specific agricultural zones (Salem, Coimbatore, Erode) for localized, prompt emergency coverage.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2DC8AD5-BB8C-D550-A08B-B7C92A0D8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45AE-77CA-4A42-9883-3E5577E109F1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2BB344B-3531-940F-A917-A6236C85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59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FA9011C-DA38-8047-DA14-9FC27193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75D0DE-F343-7DE5-EBEA-9FD0BC73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291BF37-F596-F10C-2E9B-F5907A451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46687F4-97AD-2F5A-8CF2-BD38254DF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873D6-2F1E-480A-8F89-720905B0F7CF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0AE8C64-5FF9-3AF6-80AF-E355FE89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 descr="slide_5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56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215142E-952D-6356-14F0-32CB3E4D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8EEA52-A052-EF6E-B37A-CDFA7152C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5D8AEE9-9097-4CE7-EB01-7AACA7759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Frontend Framework: </a:t>
            </a:r>
            <a:r>
              <a:rPr b="0" sz="1300">
                <a:solidFill>
                  <a:srgbClr val="334155"/>
                </a:solidFill>
              </a:rPr>
              <a:t>Next.js 16 (React 19, Server &amp; Client Components, Turbopack) delivering instant rendering and reactive health dashboards.</a:t>
            </a:r>
            <a:endParaRPr lang="en-IN"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Styling &amp; UI Components: </a:t>
            </a:r>
            <a:r>
              <a:rPr b="0" sz="1300">
                <a:solidFill>
                  <a:srgbClr val="334155"/>
                </a:solidFill>
              </a:rPr>
              <a:t>Tailwind CSS with high-contrast health status pills, accessible data tables, and mobile-responsive farmer touch interfaces.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Backend Architecture: </a:t>
            </a:r>
            <a:r>
              <a:rPr b="0" sz="1300">
                <a:solidFill>
                  <a:srgbClr val="334155"/>
                </a:solidFill>
              </a:rPr>
              <a:t>Node.js Serverless Edge/API Routes providing high-throughput RESTful endpoints for telemetry ingestion, triage dispatch, and calibration.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Database &amp; ORM Layer: </a:t>
            </a:r>
            <a:r>
              <a:rPr b="0" sz="1300">
                <a:solidFill>
                  <a:srgbClr val="334155"/>
                </a:solidFill>
              </a:rPr>
              <a:t>PostgreSQL (Neon Cloud Serverless DB) managed via Prisma ORM for relational integrity across cattle, health logs, cases, and feedback.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Machine Learning &amp; Analytics: </a:t>
            </a:r>
            <a:r>
              <a:rPr b="0" sz="1300">
                <a:solidFill>
                  <a:srgbClr val="334155"/>
                </a:solidFill>
              </a:rPr>
              <a:t>Python 3, Scikit-learn (RandomForestClassifier, LogisticRegression), NumPy, and Pandas for statistical anomaly scoring and feedback retraining.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Security &amp; Authentication: </a:t>
            </a:r>
            <a:r>
              <a:rPr b="0" sz="1300">
                <a:solidFill>
                  <a:srgbClr val="334155"/>
                </a:solidFill>
              </a:rPr>
              <a:t>Bcrypt password hashing, JSON Web Tokens (JWT) with HTTP-only cookies, and server-side Role-Based Access Control (RBAC).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6B06763-B5E8-5369-5FE7-E74BC8354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223C-C5A4-4857-AF3A-F0B87F03BBEE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2DCF371-7C57-F90F-5F29-6B980CD69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71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041F760-B533-946A-8D3D-CD874A286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55786D-47F7-8FE9-D42F-90D307C4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EDC1A92-957D-D44D-62EB-6383381E8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Module 1 - User, Farm &amp; Cattle Management: </a:t>
            </a:r>
            <a:r>
              <a:rPr b="0" sz="1300">
                <a:solidFill>
                  <a:srgbClr val="334155"/>
                </a:solidFill>
              </a:rPr>
              <a:t>Multi-role registration (Farmer, Vet, Admin), comprehensive cow registry with ear tag ID (e.g. TN-SC-3608), breed profiling (HF Cross, Jersey, Kangayam), birth and lactation stage.</a:t>
            </a:r>
            <a:endParaRPr lang="en-IN" dirty="0"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Module 2 - QR Code Generation &amp; Instant Tagging: </a:t>
            </a:r>
            <a:r>
              <a:rPr b="0" sz="1300">
                <a:solidFill>
                  <a:srgbClr val="334155"/>
                </a:solidFill>
              </a:rPr>
              <a:t>Generates printable 2D QR ear tags linked to digital records. Farmers and visiting veterinarians scan using standard smartphone cameras for zero-click instant profile lookup.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Module 3 - Daily Telemetry &amp; Vitals Logging: </a:t>
            </a:r>
            <a:r>
              <a:rPr b="0" sz="1300">
                <a:solidFill>
                  <a:srgbClr val="334155"/>
                </a:solidFill>
              </a:rPr>
              <a:t>Intuitive mobile forms for daily entry of morning/evening milk yield (Litres), feed intake (kg), core body temperature (°C), and rumination hours.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2AF3D12-B7A4-C89B-DAF7-28676EF53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C006E-755B-48A1-AF56-5DC5A20499E8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461A2B7-95BE-4D6B-2E42-F0177E967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384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79348A8-972C-20A2-78D7-A46CC8B1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680957-E354-94CD-F453-B0FE8F60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23F7C9B-51F3-84A5-9573-727F1B0F0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Module 4 - Health Monitoring &amp; CHDI Analytics: </a:t>
            </a:r>
            <a:r>
              <a:rPr b="0" sz="1300">
                <a:solidFill>
                  <a:srgbClr val="334155"/>
                </a:solidFill>
              </a:rPr>
              <a:t>Calculates composite 0–100 health index based on rolling individual baselines: Healthy (≥80), Watch (60–79), and Critical (&lt;60), highlighting deviating vital signals.</a:t>
            </a:r>
            <a:endParaRPr lang="en-IN" dirty="0"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Module 5 - Emergency Triage &amp; Tele-Veterinary Portal: </a:t>
            </a:r>
            <a:r>
              <a:rPr b="0" sz="1300">
                <a:solidFill>
                  <a:srgbClr val="334155"/>
                </a:solidFill>
              </a:rPr>
              <a:t>Prioritized queue displaying critical cattle cases, farmer contact, reported symptoms, and one-click diagnosis modal with e-prescriptions (medicine, dosage, treatment days).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Module 6 - Admin AI Model Calibration &amp; Audit: </a:t>
            </a:r>
            <a:r>
              <a:rPr b="0" sz="1300">
                <a:solidFill>
                  <a:srgbClr val="334155"/>
                </a:solidFill>
              </a:rPr>
              <a:t>Real-time workbench tracking Stage 1-3 model health, executing active model retraining with verified doctor feedback logs, and maintaining version history.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652F03-70B3-B587-0E05-270D59D7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14F8-A136-414E-BB44-8FDC063D854C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B5EA384-8E9A-FDD7-FB8B-046737A7A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94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3CBD0A9-BCF3-4985-177E-582E4C99B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13388F-FF35-2D83-4D3B-039D6B5A0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40B2D9F-E603-08EB-8165-CC3644C8E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Subclinical Detection Lead Time: </a:t>
            </a:r>
            <a:r>
              <a:rPr b="0" sz="1300">
                <a:solidFill>
                  <a:srgbClr val="334155"/>
                </a:solidFill>
              </a:rPr>
              <a:t>Successfully identified onset of Acute Mastitis and Ketosis 24 to 48 hours prior to acute visible physical symptoms and severe milk collapse.</a:t>
            </a:r>
            <a:endParaRPr lang="en-IN" dirty="0"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Individual Baseline Normalization: </a:t>
            </a:r>
            <a:r>
              <a:rPr b="0" sz="1300">
                <a:solidFill>
                  <a:srgbClr val="334155"/>
                </a:solidFill>
              </a:rPr>
              <a:t>14-day/7-day rolling window eliminated false alerts triggered by high-yielding breeds (HF Cross) vs. indigenous drought breeds (Kangayam).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Correlated Parameter Sensitivity: </a:t>
            </a:r>
            <a:r>
              <a:rPr b="0" sz="1300">
                <a:solidFill>
                  <a:srgbClr val="334155"/>
                </a:solidFill>
              </a:rPr>
              <a:t>High diagnostic accuracy achieved by cross-checking concurrent signals: subtle milk drop (≥15%) combined with rumination depression and mild pyrexia.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Turnaround Optimization: </a:t>
            </a:r>
            <a:r>
              <a:rPr b="0" sz="1300">
                <a:solidFill>
                  <a:srgbClr val="334155"/>
                </a:solidFill>
              </a:rPr>
              <a:t>Reduced emergency veterinary response time from traditional 24–48 hours (physical search) to under 2 hours via electronic tele-triage.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DEDFEF-F475-03C4-1D8A-E888FF68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34BE6-7FF4-4EB9-BE9E-DA698D9A81A8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8003E5D-FB8D-6CDD-2518-551277E62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820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3540F9B-8778-DEE5-81E7-F9FA2E9F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CECE46-BAAB-CAA4-05A8-372CB2CC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7F10ED9-48F5-4E63-455E-0D3C216EA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0AFA26E-B422-E60D-0452-51DAD617A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34BE6-7FF4-4EB9-BE9E-DA698D9A81A8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6E90F96-35BF-2730-7397-E3BDBA39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12</a:t>
            </a:fld>
            <a:endParaRPr lang="en-IN"/>
          </a:p>
        </p:txBody>
      </p:sp>
      <p:pic>
        <p:nvPicPr>
          <p:cNvPr id="7" name="Picture 6" descr="slide_12_results_and_discussio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079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134D6E0-C66F-3EE3-EF78-9A8444C47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55D1A6-9E48-6BC3-2E99-BD8D4E96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CB73C54-DB00-C191-B8C5-01B0C9821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4C6D207-EA2F-9361-FF07-A295D75C5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3B7E-D7B4-42B0-A405-0E78122C139B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F76078D-E05A-668D-D7D3-6EAEA601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13</a:t>
            </a:fld>
            <a:endParaRPr lang="en-IN"/>
          </a:p>
        </p:txBody>
      </p:sp>
      <p:pic>
        <p:nvPicPr>
          <p:cNvPr id="7" name="Picture 6" descr="slide_8_im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12064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58444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Farmer Herd Records &amp; Overview</a:t>
            </a:r>
          </a:p>
        </p:txBody>
      </p:sp>
      <p:pic>
        <p:nvPicPr>
          <p:cNvPr id="9" name="Picture 8" descr="slide_9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12064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358444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QR Ear-Tag Generator &amp; Mobile Scan</a:t>
            </a:r>
          </a:p>
        </p:txBody>
      </p:sp>
      <p:pic>
        <p:nvPicPr>
          <p:cNvPr id="11" name="Picture 10" descr="slide_10_img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49039"/>
            <a:ext cx="512064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053327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CHDI Health Analytics &amp; Deviation Score</a:t>
            </a:r>
          </a:p>
        </p:txBody>
      </p:sp>
      <p:pic>
        <p:nvPicPr>
          <p:cNvPr id="13" name="Picture 12" descr="slide_11_img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749039"/>
            <a:ext cx="5120640" cy="228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6053327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Clinical Alerts &amp; Vet Triage Workbench</a:t>
            </a:r>
          </a:p>
        </p:txBody>
      </p:sp>
    </p:spTree>
    <p:extLst>
      <p:ext uri="{BB962C8B-B14F-4D97-AF65-F5344CB8AC3E}">
        <p14:creationId xmlns:p14="http://schemas.microsoft.com/office/powerpoint/2010/main" val="901834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04012E9-73A7-647D-3072-2B780BE8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A6D766-50C1-4B7C-E796-F3067CC3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067BF4-5141-EA81-9E2C-1D1B89282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Project Conclusion: </a:t>
            </a:r>
            <a:r>
              <a:rPr b="0" sz="1300">
                <a:solidFill>
                  <a:srgbClr val="334155"/>
                </a:solidFill>
              </a:rPr>
              <a:t>SmartCattle provides a practical, zero-hardware digital livestock healthcare platform that connects rural dairy farmers with qualified district veterinarians.</a:t>
            </a: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Demonstrated Clinical Value: </a:t>
            </a:r>
            <a:r>
              <a:rPr b="0" sz="1300">
                <a:solidFill>
                  <a:srgbClr val="334155"/>
                </a:solidFill>
              </a:rPr>
              <a:t>Personalized CHDI scoring combined with closed-loop doctor feedback learning delivers trustworthy early warning, preserving animal lives and farm productivity.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Future Enhancement 1 - Direct IoT Collar Telemetry: </a:t>
            </a:r>
            <a:r>
              <a:rPr b="0" sz="1300">
                <a:solidFill>
                  <a:srgbClr val="334155"/>
                </a:solidFill>
              </a:rPr>
              <a:t>Automated ingestion via wireless LoRaWAN / Bluetooth Low Energy (BLE) neck collars for continuous sensor feeds.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Future Enhancement 2 - Computer Vision Diagnostics: </a:t>
            </a:r>
            <a:r>
              <a:rPr b="0" sz="1300">
                <a:solidFill>
                  <a:srgbClr val="334155"/>
                </a:solidFill>
              </a:rPr>
              <a:t>Mobile camera photo scanning for cattle facial grimace distress, hoof lameness detection, and dermatological lesion classification.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Future Enhancement 3 - Regional Voice Assistant: </a:t>
            </a:r>
            <a:r>
              <a:rPr b="0" sz="1300">
                <a:solidFill>
                  <a:srgbClr val="334155"/>
                </a:solidFill>
              </a:rPr>
              <a:t>Multilingual voice-to-text logging in regional languages (Tamil and Hindi) for low-literacy rural farmers.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DBC3F86-DD42-61B4-D19F-D4288317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93241-78CD-41FD-9FFF-E158D31A3E18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D15FAC0-2EAA-8E1B-B250-FA256F786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030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7E7940F-6B4F-C560-ED57-2FC151C2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3631787-BEB0-6CE3-A1C7-20922109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A6847C7-1DE7-0718-9A7E-0B29AC1AB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[1] Mahmud et al. (2021): </a:t>
            </a:r>
            <a:r>
              <a:rPr b="0" sz="1300">
                <a:solidFill>
                  <a:srgbClr val="334155"/>
                </a:solidFill>
              </a:rPr>
              <a:t>M. S. Mahmud et al., 'A systematic review on deep learning for precision cattle farming,' Computers &amp; Electronics in Agriculture, vol. 187.</a:t>
            </a:r>
            <a:endParaRPr lang="en-IN" dirty="0"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[2] Bumbálek et al. (2023): </a:t>
            </a:r>
            <a:r>
              <a:rPr b="0" sz="1300">
                <a:solidFill>
                  <a:srgbClr val="334155"/>
                </a:solidFill>
              </a:rPr>
              <a:t>J. Bumbálek, J. Pytel, and J. Císař, 'Dairy cow identification methods based on optical tags,' Computers &amp; Electronics in Agriculture, vol. 204.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[3] Xu et al. (2026): </a:t>
            </a:r>
            <a:r>
              <a:rPr b="0" sz="1300">
                <a:solidFill>
                  <a:srgbClr val="334155"/>
                </a:solidFill>
              </a:rPr>
              <a:t>X. Xu, B. Xiong, D. Liu, and H. Song, 'Non-contact technologies for cattle monitoring,' Computers &amp; Electronics in Agriculture, vol. 216.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[4] Rutten et al. (2013): </a:t>
            </a:r>
            <a:r>
              <a:rPr b="0" sz="1300">
                <a:solidFill>
                  <a:srgbClr val="334155"/>
                </a:solidFill>
              </a:rPr>
              <a:t>C. J. Rutten, A. G. Velthuis, and H. Hogeveen, 'Sensors to support health management on dairy farms,' Journal of Dairy Science, vol. 96(4).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[5] Lovarelli et al. (2020): </a:t>
            </a:r>
            <a:r>
              <a:rPr b="0" sz="1300">
                <a:solidFill>
                  <a:srgbClr val="334155"/>
                </a:solidFill>
              </a:rPr>
              <a:t>D. Lovarelli, J. Bacenetti, and M. Guarino, 'Precision livestock farming in dairy cattle: technology and applications,' Journal of Cleaner Production, vol. 248.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D1440F2-CF62-1E11-C943-BB918F82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96024-6B97-4464-B986-4FD2791A5371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0461EF9-FF3A-7AD8-3761-6A39C5BB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114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8C9D11D-8C69-02CD-0766-EE780E921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EC8812-C937-B75E-CFCC-09C8F3A1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/ Patent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1C29A03-0D33-B23F-AA3C-AF4B3D8C8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Proposed Research Publication: </a:t>
            </a:r>
            <a:r>
              <a:rPr b="0" sz="1300">
                <a:solidFill>
                  <a:srgbClr val="334155"/>
                </a:solidFill>
              </a:rPr>
              <a:t>'SmartCattle: An Adaptive Multi-Stage Machine Learning Framework and Veterinary Tele-Triage System for Subclinical Disease Detection in Dairy Cattle.'</a:t>
            </a:r>
            <a:endParaRPr lang="en-IN" dirty="0"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Target Journal / Conference Venues: </a:t>
            </a:r>
            <a:r>
              <a:rPr b="0" sz="1300">
                <a:solidFill>
                  <a:srgbClr val="334155"/>
                </a:solidFill>
              </a:rPr>
              <a:t>Targeting IEEE Transactions on AgriFood Electronics / Elsevier Computers &amp; Electronics in Agriculture.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Patent / Intellectual Property Scope: </a:t>
            </a:r>
            <a:r>
              <a:rPr b="0" sz="1300">
                <a:solidFill>
                  <a:srgbClr val="334155"/>
                </a:solidFill>
              </a:rPr>
              <a:t>'A System and Method for Adaptive Doctor-in-the-Loop Cattle Health Deviation Index (CHDI) Computation and Regional Veterinary Tele-Triage.'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Key Novelty Claim: </a:t>
            </a:r>
            <a:r>
              <a:rPr b="0" sz="1300">
                <a:solidFill>
                  <a:srgbClr val="334155"/>
                </a:solidFill>
              </a:rPr>
              <a:t>Low-cost QR optical identification coupled with dynamic 7-day personalized baseline normalization and doctor feedback model recalibration to minimize false alarms in rural dairy herds.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2253636-7F02-E84F-18F8-109B7D7F0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96024-6B97-4464-B986-4FD2791A5371}" type="datetime1">
              <a:rPr lang="en-IN" smtClean="0"/>
              <a:t>30-10-2026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DD9E008-8C2B-C7F1-4A0C-60A54E0A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011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109</Words>
  <Application>Microsoft Office PowerPoint</Application>
  <PresentationFormat>Custom</PresentationFormat>
  <Paragraphs>63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Department of Information Technology</vt:lpstr>
      <vt:lpstr>Abstract</vt:lpstr>
      <vt:lpstr>Introduction</vt:lpstr>
      <vt:lpstr>Existing System / Literature Review</vt:lpstr>
      <vt:lpstr>Objective of the project work</vt:lpstr>
      <vt:lpstr>Proposed System</vt:lpstr>
      <vt:lpstr>Architecture Diagram</vt:lpstr>
      <vt:lpstr>Technology Used</vt:lpstr>
      <vt:lpstr>Module Description</vt:lpstr>
      <vt:lpstr>Module Description</vt:lpstr>
      <vt:lpstr>Results &amp; Discussion</vt:lpstr>
      <vt:lpstr>Results &amp; Discussion</vt:lpstr>
      <vt:lpstr>Screenshots</vt:lpstr>
      <vt:lpstr>Conclusion</vt:lpstr>
      <vt:lpstr>References</vt:lpstr>
      <vt:lpstr>Publication / Patent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Information Technology</dc:title>
  <dc:creator>Santhosh Kumar C</dc:creator>
  <cp:lastModifiedBy>Windows User</cp:lastModifiedBy>
  <cp:revision>3</cp:revision>
  <dcterms:created xsi:type="dcterms:W3CDTF">2026-03-11T11:49:07Z</dcterms:created>
  <dcterms:modified xsi:type="dcterms:W3CDTF">2026-10-30T08:27:49Z</dcterms:modified>
</cp:coreProperties>
</file>