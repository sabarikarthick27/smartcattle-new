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71" r:id="rId3"/>
    <p:sldId id="272" r:id="rId4"/>
    <p:sldId id="273" r:id="rId5"/>
    <p:sldId id="274" r:id="rId6"/>
    <p:sldId id="282" r:id="rId7"/>
    <p:sldId id="275" r:id="rId8"/>
    <p:sldId id="276" r:id="rId9"/>
    <p:sldId id="277" r:id="rId10"/>
    <p:sldId id="278" r:id="rId11"/>
    <p:sldId id="279" r:id="rId12"/>
    <p:sldId id="280" r:id="rId13"/>
    <p:sldId id="28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F1527-CF75-4ADD-964D-23824D0C4D4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A11F4-993D-4EA1-B926-BC56BD08B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250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A11F4-993D-4EA1-B926-BC56BD08BA7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326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CB6B-B384-B63C-E6B3-70D7C6E0F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5396A-6A6E-FD2F-135E-54C74A5AF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90431-2646-39AE-5B70-75072E864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22C2-4810-46D2-89A2-14EBC0D40961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570FC-F0E0-A8BB-01C4-9A869161D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E2177-A0F4-2EC9-3F74-9B918012C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737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62323-F767-4984-DB3E-9AF48914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9EC59-F5BB-ABAC-2505-365B04285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0A65A-B2A2-895A-BBC5-8BD8B928B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BDE86-EDAA-4F84-8673-E7BB0683A4F7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6C835-ECA6-955F-C13F-B7B7D3BCB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318D8-32C6-872F-1062-BB0995AF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15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41140-3A67-3CB5-B87C-91E440C8F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9AB90-23C1-EF9D-EA7B-94812F45B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936AF-022E-3138-70AD-8FD6704E8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F39BE-13B1-4CC6-B136-BCD44CD778BD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A8139-F08F-EF16-C3D2-47BBE6AEC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08CDB-BAB6-82BD-E8AD-6204110B9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061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857E8-C7FF-7D07-D10D-AD74E50A9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14AEB-EAD4-F1F3-09AB-7C79C3EC0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64CD8-096B-5FF2-16A2-0288833EF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DD45E-F94D-8C02-4756-2DE0F015A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06883-6448-457C-B56F-E31A4C82733F}" type="datetime1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1BB58-2F28-0954-0006-EF63C4D6F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141D8-8632-826F-6108-C63D3779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982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F1C5-351C-FF0F-4338-E296EA0DD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F800C-A22E-07E4-ACA7-1BCA7A640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89109E-4EED-AF9F-E4CC-A6BAF3593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21F598-7281-8993-86CE-12E794B7E4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4B5926-C830-F889-52FD-11A49525F0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A8871D-0C56-66EF-5227-AF00D2C10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816C9-4412-4B42-8150-7782C059C0A5}" type="datetime1">
              <a:rPr lang="en-IN" smtClean="0"/>
              <a:t>08-10-2026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55ECAC-8541-7701-6CBF-C52991430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83F4D3-1374-F288-6B25-C2F75408C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553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39B7B-E72F-0669-9EF9-0D7AFEE02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E10186-1D54-8984-1D4F-E8CF8D46F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EB682-B852-4724-B44C-52FB3AA0E5E8}" type="datetime1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15DFF5-64AE-6089-5338-3F391FF5E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7E70BE-9463-6277-FFA7-93A4CAF74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665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213697-BB8B-148B-CF69-4037E1FF6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D49F2-F942-4B20-AFC5-0E3AD4B7694F}" type="datetime1">
              <a:rPr lang="en-IN" smtClean="0"/>
              <a:t>08-10-2026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86B66B-09BC-B532-2E93-D79A1B7B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E936B-7931-3A83-AB29-ECEAECFA3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57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1CC7B-2812-6839-E0D8-139C0D050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1E903-3A28-0F27-45D8-D2B7B0D3D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DD839-1AE7-A11E-874E-C48E74BEF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581AE-9EBD-8F1F-10EE-19CC728C1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4F94-2DD5-4CDE-BF50-493F2A3266D7}" type="datetime1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44418-1993-F843-348C-42E871BB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F6435-C09E-7D13-4F30-508D77CE5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005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43CD1-5410-1DA9-7228-B2F018E7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D01CA9-B7C7-25AD-3E52-2F3724315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427CD-AF08-3726-8FAA-A57C00643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0F8AC-9193-3066-579C-5D371F128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F964-07F3-48B0-9FEC-183785D2821F}" type="datetime1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4E56E-7994-6879-393B-FB1D8179B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73E1B-ACEA-671B-9925-98DDD4FAF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951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3DC8-4DED-7E64-5035-8876855EB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59E2D9-241D-EEDB-63A9-B2A35C9BE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493B7-E45B-1998-1F3A-78743F9FD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74B32-A9E9-4276-83A7-902B7F400383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7813D-479D-AF61-49FB-BA944D691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85E31-541B-32EB-2A5E-5FC484A1E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072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5D4A72-8FC8-9FFA-D79F-1B931E3FD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057D4D-DE4F-040D-4D5E-3046AFB04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28EC-F0C7-659F-D01A-C22DB719A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F84DC-9173-4658-B3EA-269020D94500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7EEA2-E42A-72B3-2DA9-F7E5ADD6D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E1EB3-A802-EFC6-7F9A-7F27D9085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785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1894CF-7A3B-86AF-DA5E-FE17EDF82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184D8-6BAE-2DDC-B3F5-B2B6DAD44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A6D96-2E95-9CD4-FCD4-89256033E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D9282-2D87-4F06-BAC4-DC8B14CE8012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DBF4B-1096-A70D-93E6-D7C942169C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29B82-16DD-C092-3F81-633D338DB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52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2C082-4783-3F0B-9EC6-25645937E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3671" y="0"/>
            <a:ext cx="8279129" cy="1122363"/>
          </a:xfrm>
          <a:ln>
            <a:solidFill>
              <a:schemeClr val="accent1">
                <a:lumMod val="75000"/>
              </a:schemeClr>
            </a:solidFill>
          </a:ln>
        </p:spPr>
        <p:txBody>
          <a:bodyPr anchor="ctr">
            <a:no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SONA COLLEGE OF TECHNOLOGY, SALEM
Department of Information Technology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FEFCD3-3C75-35E2-D6EC-2AFC39620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841523"/>
            <a:ext cx="12624619" cy="1991734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F172A"/>
                </a:solidFill>
                <a:latin typeface="Arial"/>
              </a:rPr>
              <a:t>QR-BASED CATTLE MANAGEMENT SYSTEM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601AF6C-F3EB-977E-9DB3-2754D7377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693671" cy="112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87B0-2C3A-FA84-0969-EAACF959DDFB}"/>
              </a:ext>
            </a:extLst>
          </p:cNvPr>
          <p:cNvSpPr txBox="1"/>
          <p:nvPr/>
        </p:nvSpPr>
        <p:spPr>
          <a:xfrm>
            <a:off x="1142163" y="5020117"/>
            <a:ext cx="3516923" cy="1077218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sz="1600" b="1" dirty="0">
                <a:solidFill>
                  <a:srgbClr val="0F172A"/>
                </a:solidFill>
                <a:latin typeface="Arial"/>
              </a:rPr>
              <a:t>Project Guide:
</a:t>
            </a:r>
            <a:r>
              <a:rPr sz="1600" dirty="0">
                <a:solidFill>
                  <a:srgbClr val="334155"/>
                </a:solidFill>
                <a:latin typeface="Arial"/>
              </a:rPr>
              <a:t>Mrs. J. Deepika,
Assistant Professor,
Department of 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6C4D5-4260-EE20-5032-89C70841E0D2}"/>
              </a:ext>
            </a:extLst>
          </p:cNvPr>
          <p:cNvSpPr txBox="1"/>
          <p:nvPr/>
        </p:nvSpPr>
        <p:spPr>
          <a:xfrm>
            <a:off x="7139354" y="5020117"/>
            <a:ext cx="4088718" cy="1077218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sz="1600" b="1" dirty="0">
                <a:solidFill>
                  <a:srgbClr val="0F172A"/>
                </a:solidFill>
                <a:latin typeface="Arial"/>
              </a:rPr>
              <a:t>Project Team Members:
</a:t>
            </a:r>
            <a:r>
              <a:rPr sz="1600" dirty="0">
                <a:solidFill>
                  <a:srgbClr val="334155"/>
                </a:solidFill>
                <a:latin typeface="Arial"/>
              </a:rPr>
              <a:t>Sabari Karthick A (61782323110093)
</a:t>
            </a:r>
            <a:r>
              <a:rPr sz="1600" dirty="0" err="1">
                <a:solidFill>
                  <a:srgbClr val="334155"/>
                </a:solidFill>
                <a:latin typeface="Arial"/>
              </a:rPr>
              <a:t>Sivanarasimman</a:t>
            </a:r>
            <a:r>
              <a:rPr sz="1600" dirty="0">
                <a:solidFill>
                  <a:srgbClr val="334155"/>
                </a:solidFill>
                <a:latin typeface="Arial"/>
              </a:rPr>
              <a:t> S (61782323110103)
Sujeeth Y R (61782323110107)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474076-628F-3EFB-1343-490B0E773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0"/>
            <a:ext cx="1219199" cy="121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316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6813"/>
            <a:ext cx="10515600" cy="1406013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Low-Cost QR Identification: </a:t>
            </a:r>
            <a:r>
              <a:rPr sz="1800" dirty="0">
                <a:solidFill>
                  <a:srgbClr val="334155"/>
                </a:solidFill>
                <a:latin typeface="Arial"/>
              </a:rPr>
              <a:t>Uses simple weatherproof QR ear tags instead of expensive wearable electronic sensors.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Digital Cattle Records: </a:t>
            </a:r>
            <a:r>
              <a:rPr sz="1800" dirty="0">
                <a:solidFill>
                  <a:srgbClr val="334155"/>
                </a:solidFill>
                <a:latin typeface="Arial"/>
              </a:rPr>
              <a:t>Stores cattle profiles, milk yield, feed intake, vaccinations, and treatment history in one web app.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Personalized Health Tracking: </a:t>
            </a:r>
            <a:r>
              <a:rPr sz="1800" dirty="0">
                <a:solidFill>
                  <a:srgbClr val="334155"/>
                </a:solidFill>
                <a:latin typeface="Arial"/>
              </a:rPr>
              <a:t>Learns the normal health baseline for each individual cow instead of using generic breed averages.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Early Disease Alerts: </a:t>
            </a:r>
            <a:r>
              <a:rPr sz="1800" dirty="0">
                <a:solidFill>
                  <a:srgbClr val="334155"/>
                </a:solidFill>
                <a:latin typeface="Arial"/>
              </a:rPr>
              <a:t>Detects health drops (CHDI score) and alerts farmers and veterinarians 24 to 48 hours before severe illness.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Seamless Vet Coordination: </a:t>
            </a:r>
            <a:r>
              <a:rPr sz="1800" dirty="0">
                <a:solidFill>
                  <a:srgbClr val="334155"/>
                </a:solidFill>
                <a:latin typeface="Arial"/>
              </a:rPr>
              <a:t>Automatically assigns sick cattle cases to nearby veterinarians for prompt treatment.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6981"/>
            <a:ext cx="10515600" cy="1513707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Objectives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marL="0" indent="0" algn="just">
              <a:spcAft>
                <a:spcPts val="8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Replace Paper Records: </a:t>
            </a:r>
            <a:r>
              <a:rPr sz="1800" dirty="0">
                <a:solidFill>
                  <a:srgbClr val="334155"/>
                </a:solidFill>
                <a:latin typeface="Arial"/>
              </a:rPr>
              <a:t>Create an easy digital platform for farm and cattle management.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Fast QR Code Identification: </a:t>
            </a:r>
            <a:r>
              <a:rPr sz="1800" dirty="0">
                <a:solidFill>
                  <a:srgbClr val="334155"/>
                </a:solidFill>
                <a:latin typeface="Arial"/>
              </a:rPr>
              <a:t>Enable instant cattle lookup by scanning ear tags using any smartphone camera.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Complete Medical History: </a:t>
            </a:r>
            <a:r>
              <a:rPr sz="1800" dirty="0">
                <a:solidFill>
                  <a:srgbClr val="334155"/>
                </a:solidFill>
                <a:latin typeface="Arial"/>
              </a:rPr>
              <a:t>Track daily milk yield, feeding, vaccinations, and veterinary treatments in one secure place.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Personalized Health Baseline: </a:t>
            </a:r>
            <a:r>
              <a:rPr sz="1800" dirty="0">
                <a:solidFill>
                  <a:srgbClr val="334155"/>
                </a:solidFill>
                <a:latin typeface="Arial"/>
              </a:rPr>
              <a:t>Monitor each cow's individual normal state to prevent false alarms.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Early Anomaly Detection: </a:t>
            </a:r>
            <a:r>
              <a:rPr sz="1800" dirty="0">
                <a:solidFill>
                  <a:srgbClr val="334155"/>
                </a:solidFill>
                <a:latin typeface="Arial"/>
              </a:rPr>
              <a:t>Calculate a Composite Health Deviation Index (CHDI) to spot sickness early.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Automated Vet Alerts: </a:t>
            </a:r>
            <a:r>
              <a:rPr sz="1800" dirty="0">
                <a:solidFill>
                  <a:srgbClr val="334155"/>
                </a:solidFill>
                <a:latin typeface="Arial"/>
              </a:rPr>
              <a:t>Automatically notify veterinarians when a cow shows signs of illness.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Affordable for Small Farms: </a:t>
            </a:r>
            <a:r>
              <a:rPr sz="1800" dirty="0">
                <a:solidFill>
                  <a:srgbClr val="334155"/>
                </a:solidFill>
                <a:latin typeface="Arial"/>
              </a:rPr>
              <a:t>Deliver a simple, mobile-friendly system with zero on-animal hardware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Proposed System /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1. Registration &amp; Tagging: </a:t>
            </a:r>
            <a:r>
              <a:rPr sz="1800" dirty="0">
                <a:solidFill>
                  <a:srgbClr val="334155"/>
                </a:solidFill>
                <a:latin typeface="Arial"/>
              </a:rPr>
              <a:t>Farmer registers cattle and attaches a unique printed QR ear tag.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2. Daily Data Logging: </a:t>
            </a:r>
            <a:r>
              <a:rPr sz="1800" dirty="0">
                <a:solidFill>
                  <a:srgbClr val="334155"/>
                </a:solidFill>
                <a:latin typeface="Arial"/>
              </a:rPr>
              <a:t>Farmer scans the QR tag with a smartphone and enters daily milk yield and feed intake.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3. Baseline Learning: </a:t>
            </a:r>
            <a:r>
              <a:rPr sz="1800" dirty="0">
                <a:solidFill>
                  <a:srgbClr val="334155"/>
                </a:solidFill>
                <a:latin typeface="Arial"/>
              </a:rPr>
              <a:t>The system learns the cow's normal health patterns over a 14-day period.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4. Health Scoring (CHDI): </a:t>
            </a:r>
            <a:r>
              <a:rPr sz="1800" dirty="0">
                <a:solidFill>
                  <a:srgbClr val="334155"/>
                </a:solidFill>
                <a:latin typeface="Arial"/>
              </a:rPr>
              <a:t>Compares new entries with the baseline to calculate a Health Score (0 to 100).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5. Automated Triage: </a:t>
            </a:r>
            <a:r>
              <a:rPr sz="1800" dirty="0">
                <a:solidFill>
                  <a:srgbClr val="334155"/>
                </a:solidFill>
                <a:latin typeface="Arial"/>
              </a:rPr>
              <a:t>Normal (≥80), Watch (60–79), and At-Risk (&lt;60). Alerts are triggered automatically if health drops.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6. Vet Check &amp; Treatment: </a:t>
            </a:r>
            <a:r>
              <a:rPr sz="1800" dirty="0">
                <a:solidFill>
                  <a:srgbClr val="334155"/>
                </a:solidFill>
                <a:latin typeface="Arial"/>
              </a:rPr>
              <a:t>Veterinarian inspects the cow, adds treatment details, and confirms the diagnosis.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324"/>
            <a:ext cx="10515600" cy="1474838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Architecture</a:t>
            </a:r>
            <a:r>
              <a:rPr lang="en-US" sz="2800" dirty="0"/>
              <a:t> Diagram </a:t>
            </a:r>
            <a:endParaRPr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136D81-EC62-62E5-238D-764C3BD66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29"/>
          <a:stretch>
            <a:fillRect/>
          </a:stretch>
        </p:blipFill>
        <p:spPr>
          <a:xfrm>
            <a:off x="81483" y="1243131"/>
            <a:ext cx="12029033" cy="55165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BCFCF-70E9-0761-AA06-2125AB609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3A5B8-02E2-937C-836C-866A952F4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24"/>
            <a:ext cx="10515600" cy="1474838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lang="en-IN" sz="2800" dirty="0"/>
              <a:t>System Design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7D439B-E02E-3A69-256E-54F5659EBE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" t="15380" r="610" b="1433"/>
          <a:stretch>
            <a:fillRect/>
          </a:stretch>
        </p:blipFill>
        <p:spPr>
          <a:xfrm>
            <a:off x="304800" y="1150374"/>
            <a:ext cx="11775031" cy="560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655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6813"/>
            <a:ext cx="10515600" cy="1503875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Core Modules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 wrap="square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1. User Management: </a:t>
            </a:r>
            <a:r>
              <a:rPr sz="1800" dirty="0">
                <a:solidFill>
                  <a:srgbClr val="334155"/>
                </a:solidFill>
                <a:latin typeface="Arial"/>
              </a:rPr>
              <a:t>Separate logins and permissions for Admin, Farmer, and Veterinarian.</a:t>
            </a:r>
            <a:endParaRPr lang="en-US" sz="1800" dirty="0">
              <a:solidFill>
                <a:srgbClr val="334155"/>
              </a:solidFill>
              <a:latin typeface="Arial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F172A"/>
                </a:solidFill>
                <a:latin typeface="Arial"/>
              </a:rPr>
              <a:t>• 2. Farm &amp; Cattle Records: </a:t>
            </a:r>
            <a:r>
              <a:rPr lang="en-US" sz="1800" dirty="0">
                <a:solidFill>
                  <a:srgbClr val="334155"/>
                </a:solidFill>
                <a:latin typeface="Arial"/>
              </a:rPr>
              <a:t>Manage farm profiles, cow details, breed, age, and lactation stages.</a:t>
            </a:r>
          </a:p>
          <a:p>
            <a:pPr marL="0" indent="0">
              <a:spcAft>
                <a:spcPts val="6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3. QR Code Tagging: </a:t>
            </a:r>
            <a:r>
              <a:rPr sz="1800" dirty="0">
                <a:solidFill>
                  <a:srgbClr val="334155"/>
                </a:solidFill>
                <a:latin typeface="Arial"/>
              </a:rPr>
              <a:t>Generate and scan unique QR codes for instant animal lookup.</a:t>
            </a:r>
          </a:p>
          <a:p>
            <a:pPr marL="0" indent="0">
              <a:spcAft>
                <a:spcPts val="6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4. Daily Health Logging: </a:t>
            </a:r>
            <a:r>
              <a:rPr sz="1800" dirty="0">
                <a:solidFill>
                  <a:srgbClr val="334155"/>
                </a:solidFill>
                <a:latin typeface="Arial"/>
              </a:rPr>
              <a:t>Simple mobile form to log milk yield, feed intake, and activity.</a:t>
            </a:r>
          </a:p>
          <a:p>
            <a:pPr marL="0" indent="0">
              <a:spcAft>
                <a:spcPts val="6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5. Health Analysis Engine (CHDI): </a:t>
            </a:r>
            <a:r>
              <a:rPr sz="1800" dirty="0">
                <a:solidFill>
                  <a:srgbClr val="334155"/>
                </a:solidFill>
                <a:latin typeface="Arial"/>
              </a:rPr>
              <a:t>Compares daily records against the cow's own baseline.</a:t>
            </a:r>
          </a:p>
          <a:p>
            <a:pPr marL="0" indent="0">
              <a:spcAft>
                <a:spcPts val="6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6. Smart Alert System: </a:t>
            </a:r>
            <a:r>
              <a:rPr sz="1800" dirty="0">
                <a:solidFill>
                  <a:srgbClr val="334155"/>
                </a:solidFill>
                <a:latin typeface="Arial"/>
              </a:rPr>
              <a:t>Sends instant notifications when health drops or check-ups are due.</a:t>
            </a:r>
          </a:p>
          <a:p>
            <a:pPr marL="0" indent="0">
              <a:spcAft>
                <a:spcPts val="6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7. Veterinary Case Management: </a:t>
            </a:r>
            <a:r>
              <a:rPr sz="1800" dirty="0">
                <a:solidFill>
                  <a:srgbClr val="334155"/>
                </a:solidFill>
                <a:latin typeface="Arial"/>
              </a:rPr>
              <a:t>Assigns sick cattle tickets directly to regional veterinarians.</a:t>
            </a:r>
          </a:p>
          <a:p>
            <a:pPr marL="0" indent="0">
              <a:spcAft>
                <a:spcPts val="6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8. Medical &amp; Vaccination Records: </a:t>
            </a:r>
            <a:r>
              <a:rPr sz="1800" dirty="0">
                <a:solidFill>
                  <a:srgbClr val="334155"/>
                </a:solidFill>
                <a:latin typeface="Arial"/>
              </a:rPr>
              <a:t>Tracks prescribed medicines, treatment logs, and vaccination dates.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597"/>
            <a:ext cx="10515600" cy="1267199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Module 1: User, Farm &amp; Cattle Management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448373"/>
              </p:ext>
            </p:extLst>
          </p:nvPr>
        </p:nvGraphicFramePr>
        <p:xfrm>
          <a:off x="570270" y="1317523"/>
          <a:ext cx="4068589" cy="16616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8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2855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0F172A"/>
                          </a:solidFill>
                          <a:latin typeface="Arial"/>
                        </a:rPr>
                        <a:t>User Roles &amp; Access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941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34155"/>
                          </a:solidFill>
                          <a:latin typeface="Arial"/>
                        </a:rPr>
                        <a:t>• Admin: Platform logs &amp; settings</a:t>
                      </a:r>
                    </a:p>
                    <a:p>
                      <a:r>
                        <a:rPr sz="1800" dirty="0"/>
                        <a:t>• Farmer: Farm herd &amp; health logs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855">
                <a:tc>
                  <a:txBody>
                    <a:bodyPr/>
                    <a:lstStyle/>
                    <a:p>
                      <a:r>
                        <a:rPr lang="en-IN" sz="1800" b="0" dirty="0">
                          <a:solidFill>
                            <a:srgbClr val="334155"/>
                          </a:solidFill>
                          <a:latin typeface="Arial"/>
                        </a:rPr>
                        <a:t>• </a:t>
                      </a:r>
                      <a:r>
                        <a:rPr sz="1800" b="0" dirty="0">
                          <a:solidFill>
                            <a:srgbClr val="334155"/>
                          </a:solidFill>
                          <a:latin typeface="Arial"/>
                        </a:rPr>
                        <a:t>Vet: Multi-farm health oversight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208284"/>
              </p:ext>
            </p:extLst>
          </p:nvPr>
        </p:nvGraphicFramePr>
        <p:xfrm>
          <a:off x="668594" y="3085309"/>
          <a:ext cx="3825240" cy="1565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5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783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0F172A"/>
                          </a:solidFill>
                          <a:latin typeface="Arial"/>
                        </a:rPr>
                        <a:t>Farm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74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34155"/>
                          </a:solidFill>
                          <a:latin typeface="Arial"/>
                        </a:rPr>
                        <a:t>• Register farm location &amp; capacity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419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34155"/>
                          </a:solidFill>
                          <a:latin typeface="Arial"/>
                        </a:rPr>
                        <a:t>• Assign responsible veterinarians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074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34155"/>
                          </a:solidFill>
                          <a:latin typeface="Arial"/>
                        </a:rPr>
                        <a:t>• View all cattle under each farm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310403"/>
              </p:ext>
            </p:extLst>
          </p:nvPr>
        </p:nvGraphicFramePr>
        <p:xfrm>
          <a:off x="570270" y="4756794"/>
          <a:ext cx="4068589" cy="1761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8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6273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0F172A"/>
                          </a:solidFill>
                          <a:latin typeface="Arial"/>
                        </a:rPr>
                        <a:t>Cattle Digital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48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34155"/>
                          </a:solidFill>
                          <a:latin typeface="Arial"/>
                        </a:rPr>
                        <a:t>• Cattle ID, breed, 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476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34155"/>
                          </a:solidFill>
                          <a:latin typeface="Arial"/>
                        </a:rPr>
                        <a:t>• Weight &amp; lactation stage (lactating/dry)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48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34155"/>
                          </a:solidFill>
                          <a:latin typeface="Arial"/>
                        </a:rPr>
                        <a:t>• Live status: Healthy, Watch, At-Risk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30761" y="1317523"/>
            <a:ext cx="6390969" cy="24315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30762" y="4022975"/>
            <a:ext cx="6292644" cy="2490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7317"/>
            <a:ext cx="10515600" cy="1277273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Module 2: QR Code Generation &amp; Tagging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424940"/>
            <a:ext cx="1051560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F172A"/>
                </a:solidFill>
                <a:latin typeface="Arial"/>
              </a:rPr>
              <a:t>• Weatherproof 2D QR Ear-Tags: </a:t>
            </a:r>
            <a:r>
              <a:rPr dirty="0">
                <a:solidFill>
                  <a:srgbClr val="334155"/>
                </a:solidFill>
                <a:latin typeface="Arial"/>
              </a:rPr>
              <a:t>Every cow receives a unique printable QR tag linked to its digital cloud record. Eliminates expensive RFID tags with zero on-animal electronic sensors.</a:t>
            </a:r>
          </a:p>
          <a:p>
            <a:pPr>
              <a:spcBef>
                <a:spcPts val="600"/>
              </a:spcBef>
            </a:pPr>
            <a:r>
              <a:rPr b="1" dirty="0">
                <a:solidFill>
                  <a:srgbClr val="0F172A"/>
                </a:solidFill>
                <a:latin typeface="Arial"/>
              </a:rPr>
              <a:t>• Instant Camera Scan</a:t>
            </a:r>
            <a:r>
              <a:rPr lang="en-US" b="1" dirty="0">
                <a:solidFill>
                  <a:srgbClr val="0F172A"/>
                </a:solidFill>
                <a:latin typeface="Arial"/>
              </a:rPr>
              <a:t> </a:t>
            </a:r>
            <a:r>
              <a:rPr b="1" dirty="0">
                <a:solidFill>
                  <a:srgbClr val="0F172A"/>
                </a:solidFill>
                <a:latin typeface="Arial"/>
              </a:rPr>
              <a:t>: </a:t>
            </a:r>
            <a:r>
              <a:rPr dirty="0">
                <a:solidFill>
                  <a:srgbClr val="334155"/>
                </a:solidFill>
                <a:latin typeface="Arial"/>
              </a:rPr>
              <a:t>Farmers scan the ear tag using standard smartphone cameras </a:t>
            </a:r>
            <a:r>
              <a:rPr lang="en-IN" dirty="0">
                <a:solidFill>
                  <a:srgbClr val="334155"/>
                </a:solidFill>
                <a:latin typeface="Arial"/>
              </a:rPr>
              <a:t>(no app install needed) </a:t>
            </a:r>
            <a:r>
              <a:rPr dirty="0">
                <a:solidFill>
                  <a:srgbClr val="334155"/>
                </a:solidFill>
                <a:latin typeface="Arial"/>
              </a:rPr>
              <a:t>to immediately view milk records, vaccination status, and log daily observations.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67949" y="2969342"/>
            <a:ext cx="5171768" cy="28170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580E8-7639-B059-EA20-3D6171EA50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48"/>
          <a:stretch>
            <a:fillRect/>
          </a:stretch>
        </p:blipFill>
        <p:spPr>
          <a:xfrm>
            <a:off x="452283" y="2969342"/>
            <a:ext cx="5712543" cy="28195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2737"/>
            <a:ext cx="10515600" cy="1381431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Module 3: Health Monitoring &amp; CHDI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7587" y="1421765"/>
            <a:ext cx="5292213" cy="1687195"/>
          </a:xfrm>
        </p:spPr>
        <p:txBody>
          <a:bodyPr wrap="square">
            <a:noAutofit/>
          </a:bodyPr>
          <a:lstStyle/>
          <a:p>
            <a:pPr marL="0" indent="0">
              <a:buNone/>
              <a:defRPr sz="1300" b="1">
                <a:solidFill>
                  <a:srgbClr val="0F172A"/>
                </a:solidFill>
                <a:latin typeface="Arial"/>
              </a:defRPr>
            </a:pPr>
            <a:r>
              <a:rPr sz="1800" dirty="0"/>
              <a:t>Daily Parameters Logged: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Daily Milk Yield (</a:t>
            </a:r>
            <a:r>
              <a:rPr sz="1800" dirty="0" err="1"/>
              <a:t>Litres</a:t>
            </a:r>
            <a:r>
              <a:rPr sz="1800" dirty="0"/>
              <a:t> per milking)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Daily Feed Intake (kg) &amp; Feed Type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Core Body Temperature (°C) &amp; Weight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9800" y="1258529"/>
            <a:ext cx="5877230" cy="2170471"/>
          </a:xfrm>
        </p:spPr>
        <p:txBody>
          <a:bodyPr wrap="square">
            <a:noAutofit/>
          </a:bodyPr>
          <a:lstStyle/>
          <a:p>
            <a:pPr marL="0" indent="0">
              <a:buNone/>
              <a:defRPr sz="1300" b="1">
                <a:solidFill>
                  <a:srgbClr val="0F172A"/>
                </a:solidFill>
                <a:latin typeface="Arial"/>
              </a:defRPr>
            </a:pPr>
            <a:r>
              <a:rPr sz="1800" dirty="0"/>
              <a:t>3-Stage CHDI Health Scoring: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14-Day Baseline: Learns normal levels per cow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Deviation Score (0–100): Combines all vitals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Normal (≥80): Routine healthy logging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Watch (60–79): Advisory alert to farmer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At-Risk (&lt;60): Urgent alert to veterinarian</a:t>
            </a:r>
          </a:p>
        </p:txBody>
      </p:sp>
      <p:pic>
        <p:nvPicPr>
          <p:cNvPr id="5" name="Picture 4" descr="health_rec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70" y="3749040"/>
            <a:ext cx="5662369" cy="28218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4D8416-4A9F-3CB1-0720-717C50BC7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663" y="3749040"/>
            <a:ext cx="5662367" cy="28218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40" y="-84455"/>
            <a:ext cx="9997439" cy="1170768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Module 4: Clinical Alerts &amp; Veterinary 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2284" y="1012723"/>
            <a:ext cx="5506556" cy="3241620"/>
          </a:xfrm>
        </p:spPr>
        <p:txBody>
          <a:bodyPr wrap="square">
            <a:no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rPr sz="1800" dirty="0"/>
              <a:t>Automated Clinical Triage: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Instant ticket dispatch for At-Risk cows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Highlights top root causes (e.g. Milk Drop 54%)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Tracks emergency cases by urgency level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Regional disease outbreak radar for multi-farms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35039" y="1086313"/>
            <a:ext cx="5871825" cy="4429583"/>
          </a:xfrm>
        </p:spPr>
        <p:txBody>
          <a:bodyPr wrap="square">
            <a:normAutofit/>
          </a:bodyPr>
          <a:lstStyle/>
          <a:p>
            <a:pPr marL="0" indent="0">
              <a:buNone/>
              <a:defRPr sz="1300" b="1">
                <a:solidFill>
                  <a:srgbClr val="0F172A"/>
                </a:solidFill>
                <a:latin typeface="Arial"/>
              </a:defRPr>
            </a:pPr>
            <a:r>
              <a:rPr sz="1800" dirty="0"/>
              <a:t>Veterinary Records &amp; Feedback: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Doctor records diagnosis (Mastitis, Ketosis)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Prescribes medicines, dosages &amp; visit notes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CONFIRM / OVERRIDE feedback retrains model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Vaccination tracking (FMD, Anthrax, Brucellosis)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059" y="3429000"/>
            <a:ext cx="5841781" cy="27299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7AFBA0-481C-17BB-2C9E-1B398444C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567" y="3356126"/>
            <a:ext cx="5722374" cy="28027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27505"/>
            <a:ext cx="10515600" cy="4351338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lang="en-IN" sz="1800" b="1" dirty="0">
                <a:solidFill>
                  <a:srgbClr val="0F172A"/>
                </a:solidFill>
                <a:latin typeface="Arial"/>
              </a:rPr>
              <a:t>[1] M. S. Mahmud et al., </a:t>
            </a:r>
            <a:r>
              <a:rPr lang="en-IN" sz="1800" dirty="0">
                <a:solidFill>
                  <a:srgbClr val="334155"/>
                </a:solidFill>
                <a:latin typeface="Arial"/>
              </a:rPr>
              <a:t>“A systematic review on deep learning for precision cattle farming,” Computers &amp; Electronics in Agriculture, 2021.</a:t>
            </a:r>
          </a:p>
          <a:p>
            <a:pPr>
              <a:spcAft>
                <a:spcPts val="800"/>
              </a:spcAft>
            </a:pPr>
            <a:r>
              <a:rPr lang="en-IN" sz="1800" b="1" dirty="0">
                <a:solidFill>
                  <a:srgbClr val="0F172A"/>
                </a:solidFill>
                <a:latin typeface="Arial"/>
              </a:rPr>
              <a:t>[2] J. </a:t>
            </a:r>
            <a:r>
              <a:rPr lang="en-IN" sz="1800" b="1" dirty="0" err="1">
                <a:solidFill>
                  <a:srgbClr val="0F172A"/>
                </a:solidFill>
                <a:latin typeface="Arial"/>
              </a:rPr>
              <a:t>Bumbálek</a:t>
            </a:r>
            <a:r>
              <a:rPr lang="en-IN" sz="1800" b="1" dirty="0">
                <a:solidFill>
                  <a:srgbClr val="0F172A"/>
                </a:solidFill>
                <a:latin typeface="Arial"/>
              </a:rPr>
              <a:t>, J. Pytel, and J. Císař, </a:t>
            </a:r>
            <a:r>
              <a:rPr lang="en-IN" sz="1800" dirty="0">
                <a:solidFill>
                  <a:srgbClr val="334155"/>
                </a:solidFill>
                <a:latin typeface="Arial"/>
              </a:rPr>
              <a:t>“Dairy cow identification methods based on optical tags,” Computers &amp; Electronics in Agriculture, 2023.</a:t>
            </a:r>
          </a:p>
          <a:p>
            <a:pPr>
              <a:spcAft>
                <a:spcPts val="800"/>
              </a:spcAft>
            </a:pPr>
            <a:r>
              <a:rPr lang="en-IN" sz="1800" b="1" dirty="0">
                <a:solidFill>
                  <a:srgbClr val="0F172A"/>
                </a:solidFill>
                <a:latin typeface="Arial"/>
              </a:rPr>
              <a:t>[3] X. Xu, B. Xiong, D. Liu, and H. Song, </a:t>
            </a:r>
            <a:r>
              <a:rPr lang="en-IN" sz="1800" dirty="0">
                <a:solidFill>
                  <a:srgbClr val="334155"/>
                </a:solidFill>
                <a:latin typeface="Arial"/>
              </a:rPr>
              <a:t>“Non-contact technologies for cattle monitoring,” Computers &amp; Electronics in Agriculture, 2026.</a:t>
            </a:r>
          </a:p>
          <a:p>
            <a:pPr>
              <a:spcAft>
                <a:spcPts val="800"/>
              </a:spcAft>
            </a:pPr>
            <a:r>
              <a:rPr lang="en-IN" sz="1800" b="1" dirty="0">
                <a:solidFill>
                  <a:srgbClr val="0F172A"/>
                </a:solidFill>
                <a:latin typeface="Arial"/>
              </a:rPr>
              <a:t>[4] C. J. Rutten, A. G. Velthuis, and H. Hogeveen, </a:t>
            </a:r>
            <a:r>
              <a:rPr lang="en-IN" sz="1800" dirty="0">
                <a:solidFill>
                  <a:srgbClr val="334155"/>
                </a:solidFill>
                <a:latin typeface="Arial"/>
              </a:rPr>
              <a:t>“Sensors to support health management on dairy farms,” Journal of Dairy Science, 2013.</a:t>
            </a:r>
          </a:p>
          <a:p>
            <a:pPr>
              <a:spcAft>
                <a:spcPts val="800"/>
              </a:spcAft>
            </a:pPr>
            <a:r>
              <a:rPr lang="en-IN" sz="1800" b="1" dirty="0">
                <a:solidFill>
                  <a:srgbClr val="0F172A"/>
                </a:solidFill>
                <a:latin typeface="Arial"/>
              </a:rPr>
              <a:t>[5] D. </a:t>
            </a:r>
            <a:r>
              <a:rPr lang="en-IN" sz="1800" b="1" dirty="0" err="1">
                <a:solidFill>
                  <a:srgbClr val="0F172A"/>
                </a:solidFill>
                <a:latin typeface="Arial"/>
              </a:rPr>
              <a:t>Lovarelli</a:t>
            </a:r>
            <a:r>
              <a:rPr lang="en-IN" sz="1800" b="1" dirty="0">
                <a:solidFill>
                  <a:srgbClr val="0F172A"/>
                </a:solidFill>
                <a:latin typeface="Arial"/>
              </a:rPr>
              <a:t>, J. </a:t>
            </a:r>
            <a:r>
              <a:rPr lang="en-IN" sz="1800" b="1" dirty="0" err="1">
                <a:solidFill>
                  <a:srgbClr val="0F172A"/>
                </a:solidFill>
                <a:latin typeface="Arial"/>
              </a:rPr>
              <a:t>Bacenetti</a:t>
            </a:r>
            <a:r>
              <a:rPr lang="en-IN" sz="1800" b="1" dirty="0">
                <a:solidFill>
                  <a:srgbClr val="0F172A"/>
                </a:solidFill>
                <a:latin typeface="Arial"/>
              </a:rPr>
              <a:t>, and M. Guarino, </a:t>
            </a:r>
            <a:r>
              <a:rPr lang="en-IN" sz="1800" dirty="0">
                <a:solidFill>
                  <a:srgbClr val="334155"/>
                </a:solidFill>
                <a:latin typeface="Arial"/>
              </a:rPr>
              <a:t>“Precision livestock farming in dairy cattle,” Journal of Cleaner Production, 2020.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Affordable Cattle Tracking: </a:t>
            </a:r>
            <a:r>
              <a:rPr sz="1800" dirty="0">
                <a:solidFill>
                  <a:srgbClr val="334155"/>
                </a:solidFill>
                <a:latin typeface="Arial"/>
              </a:rPr>
              <a:t>Provides smart health monitoring using low-cost QR ear tags without expensive wearable sensors.</a:t>
            </a:r>
          </a:p>
          <a:p>
            <a:pPr marL="0" indent="0" algn="just">
              <a:spcAft>
                <a:spcPts val="12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Early Sickness Detection: </a:t>
            </a:r>
            <a:r>
              <a:rPr sz="1800" dirty="0">
                <a:solidFill>
                  <a:srgbClr val="334155"/>
                </a:solidFill>
                <a:latin typeface="Arial"/>
              </a:rPr>
              <a:t>Identifies health drops (CHDI) 1 to 2 days earlier, allowing timely treatment before milk yield suffers.</a:t>
            </a:r>
          </a:p>
          <a:p>
            <a:pPr marL="0" indent="0" algn="just">
              <a:spcAft>
                <a:spcPts val="12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Better Vet Coordination: </a:t>
            </a:r>
            <a:r>
              <a:rPr sz="1800" dirty="0">
                <a:solidFill>
                  <a:srgbClr val="334155"/>
                </a:solidFill>
                <a:latin typeface="Arial"/>
              </a:rPr>
              <a:t>Connects farmers directly with veterinarians for rapid case response and clear treatment history.</a:t>
            </a:r>
          </a:p>
          <a:p>
            <a:pPr marL="0" indent="0" algn="just">
              <a:spcAft>
                <a:spcPts val="12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Future Scope: </a:t>
            </a:r>
            <a:r>
              <a:rPr sz="1800" dirty="0">
                <a:solidFill>
                  <a:srgbClr val="334155"/>
                </a:solidFill>
                <a:latin typeface="Arial"/>
              </a:rPr>
              <a:t>Adding offline mode for rural areas with low network connectivity, and voice assistance in Tamil and Hindi.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1187</Words>
  <Application>Microsoft Office PowerPoint</Application>
  <PresentationFormat>Widescreen</PresentationFormat>
  <Paragraphs>86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SONA COLLEGE OF TECHNOLOGY, SALEM
Department of Information Technology</vt:lpstr>
      <vt:lpstr>Abstract</vt:lpstr>
      <vt:lpstr>Objectives of the Project</vt:lpstr>
      <vt:lpstr>Proposed System / Methodology</vt:lpstr>
      <vt:lpstr>Architecture Diagram </vt:lpstr>
      <vt:lpstr>System Design Diagram</vt:lpstr>
      <vt:lpstr>Core Modules of the System</vt:lpstr>
      <vt:lpstr>Module 1: User, Farm &amp; Cattle Management</vt:lpstr>
      <vt:lpstr>Module 2: QR Code Generation &amp; Tagging</vt:lpstr>
      <vt:lpstr>Module 3: Health Monitoring &amp; CHDI Analytics</vt:lpstr>
      <vt:lpstr>Module 4: Clinical Alerts &amp; Veterinary Triage</vt:lpstr>
      <vt:lpstr>References</vt:lpstr>
      <vt:lpstr>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Information Technology</dc:title>
  <dc:creator>Santhosh Kumar C</dc:creator>
  <cp:lastModifiedBy>Sabari Karthick</cp:lastModifiedBy>
  <cp:revision>16</cp:revision>
  <dcterms:created xsi:type="dcterms:W3CDTF">2026-03-11T11:49:07Z</dcterms:created>
  <dcterms:modified xsi:type="dcterms:W3CDTF">2026-10-08T08:29:12Z</dcterms:modified>
</cp:coreProperties>
</file>