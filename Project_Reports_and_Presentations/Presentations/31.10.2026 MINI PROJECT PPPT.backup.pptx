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E122C2-4810-46D2-89A2-14EBC0D40961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24BDE86-EDAA-4F84-8673-E7BB0683A4F7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D2F39BE-13B1-4CC6-B136-BCD44CD778BD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506883-6448-457C-B56F-E31A4C82733F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A816C9-4412-4B42-8150-7782C059C0A5}" type="datetime1">
              <a:t>10/31/2026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E0EB682-B852-4724-B44C-52FB3AA0E5E8}" type="datetime1">
              <a:t>10/31/2026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FD49F2-F942-4B20-AFC5-0E3AD4B7694F}" type="datetime1">
              <a:t>10/31/2026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224F94-2DD5-4CDE-BF50-493F2A3266D7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9D4F964-07F3-48B0-9FEC-183785D2821F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4B74B32-A9E9-4276-83A7-902B7F400383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EF84DC-9173-4658-B3EA-269020D94500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r>
              <a:rPr sz="36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9382"/>
            <a:ext cx="12191999" cy="2115533"/>
          </a:xfrm>
        </p:spPr>
        <p:txBody>
          <a:bodyPr>
            <a:normAutofit/>
          </a:bodyPr>
          <a:lstStyle/>
          <a:p>
            <a:pPr>
              <a:buNone/>
              <a:defRPr sz="2800" b="1">
                <a:latin typeface="Aptos Display"/>
                <a:ea typeface="Aptos Display"/>
                <a:cs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QR-BASED CATTLE MANAGEMENT SYSTEM:</a:t>
            </a:r>
          </a:p>
          <a:p>
            <a:pPr>
              <a:buNone/>
              <a:defRPr sz="2800" b="1">
                <a:latin typeface="Aptos Display"/>
                <a:ea typeface="Aptos Display"/>
                <a:cs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PLATFORM FOR PERSONALIZED HEALTH MONITORING USING CHDI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95AD99-B71A-4AFE-A3EC-EAD711F3B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693671" cy="1122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87B0-2C3A-FA84-0969-EAACF959DDFB}"/>
              </a:ext>
            </a:extLst>
          </p:cNvPr>
          <p:cNvSpPr>
            <a:spLocks noGrp="1"/>
          </p:cNvSpPr>
          <p:nvPr/>
        </p:nvSpPr>
        <p:spPr>
          <a:xfrm>
            <a:off x="691284" y="4735488"/>
            <a:ext cx="4254342" cy="163121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J. Deepika</a:t>
            </a: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  <a:defRPr sz="15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C4D5-4260-EE20-5032-89C70841E0D2}"/>
              </a:ext>
            </a:extLst>
          </p:cNvPr>
          <p:cNvSpPr>
            <a:spLocks noGrp="1"/>
          </p:cNvSpPr>
          <p:nvPr/>
        </p:nvSpPr>
        <p:spPr>
          <a:xfrm>
            <a:off x="7944465" y="4411366"/>
            <a:ext cx="3942735" cy="193899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Members:</a:t>
            </a:r>
          </a:p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Sabari Karthick A (61782323110093)</a:t>
            </a:r>
          </a:p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Sivanarasimman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(61782323110103)</a:t>
            </a:r>
          </a:p>
          <a:p>
            <a:pPr>
              <a:buNone/>
              <a:defRPr sz="1400"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2885A-DAA8-47D7-A705-583EB074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5BF5-1452-0F40-5060-BBF6D5B6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A0E4-B4B7-4C97-19C6-AB43299E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CAC99-F55F-638C-3095-FC6C74D64C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BB4F7-214D-32C8-2ACB-F479653BF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2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19F50-099F-4EFE-8943-4CD1A115A62A}"/>
              </a:ext>
            </a:extLst>
          </p:cNvPr>
          <p:cNvSpPr>
            <a:spLocks noGrp="1"/>
          </p:cNvSpPr>
          <p:nvPr/>
        </p:nvSpPr>
        <p:spPr>
          <a:xfrm>
            <a:off x="830826" y="1600256"/>
            <a:ext cx="10469880" cy="230216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900" b="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Smallholder dairy farms need affordable tools for animal identification and  health monitoring. This project presents a  QR cattle management platform that links each animal to a digital profile and centralized health records. Its Composite Health Deviation Index (CHDI) evaluates body weight, feed intake, milk production and body temperature against an individual 14-day rolling baseline using multivariate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Mahalanobis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distance. Data-sufficiency checks, trend analysis and feature attribution support more meaningful alerts, while role-based interfaces connect farmers, veterinarians and administrators.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35A18F-A516-4C12-A50A-A05B34329ACB}"/>
              </a:ext>
            </a:extLst>
          </p:cNvPr>
          <p:cNvSpPr>
            <a:spLocks noGrp="1"/>
          </p:cNvSpPr>
          <p:nvPr/>
        </p:nvSpPr>
        <p:spPr>
          <a:xfrm>
            <a:off x="96012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77892-E280-4D68-8408-0843B33241A8}"/>
              </a:ext>
            </a:extLst>
          </p:cNvPr>
          <p:cNvSpPr>
            <a:spLocks noGrp="1"/>
          </p:cNvSpPr>
          <p:nvPr/>
        </p:nvSpPr>
        <p:spPr>
          <a:xfrm>
            <a:off x="106984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91426-6EAF-46A7-B30C-78AC92007CCC}"/>
              </a:ext>
            </a:extLst>
          </p:cNvPr>
          <p:cNvSpPr>
            <a:spLocks noGrp="1"/>
          </p:cNvSpPr>
          <p:nvPr/>
        </p:nvSpPr>
        <p:spPr>
          <a:xfrm>
            <a:off x="106984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Smartphone-scannable QR digital passports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5DBD1C-5542-4772-B7B1-DA55A44DF61A}"/>
              </a:ext>
            </a:extLst>
          </p:cNvPr>
          <p:cNvSpPr>
            <a:spLocks noGrp="1"/>
          </p:cNvSpPr>
          <p:nvPr/>
        </p:nvSpPr>
        <p:spPr>
          <a:xfrm>
            <a:off x="443484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ED549-EF1F-4D42-A94E-159C7FAE6DBF}"/>
              </a:ext>
            </a:extLst>
          </p:cNvPr>
          <p:cNvSpPr>
            <a:spLocks noGrp="1"/>
          </p:cNvSpPr>
          <p:nvPr/>
        </p:nvSpPr>
        <p:spPr>
          <a:xfrm>
            <a:off x="454456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CHDI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48D5C-7BB3-490D-AE71-4FBA790B44A9}"/>
              </a:ext>
            </a:extLst>
          </p:cNvPr>
          <p:cNvSpPr>
            <a:spLocks noGrp="1"/>
          </p:cNvSpPr>
          <p:nvPr/>
        </p:nvSpPr>
        <p:spPr>
          <a:xfrm>
            <a:off x="454456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14-day baseline + multivariate analysis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2EB174-B283-4401-85AB-DBD103D875A2}"/>
              </a:ext>
            </a:extLst>
          </p:cNvPr>
          <p:cNvSpPr>
            <a:spLocks noGrp="1"/>
          </p:cNvSpPr>
          <p:nvPr/>
        </p:nvSpPr>
        <p:spPr>
          <a:xfrm>
            <a:off x="790956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9D99F-8433-4494-AC79-DB8D8E42B621}"/>
              </a:ext>
            </a:extLst>
          </p:cNvPr>
          <p:cNvSpPr>
            <a:spLocks noGrp="1"/>
          </p:cNvSpPr>
          <p:nvPr/>
        </p:nvSpPr>
        <p:spPr>
          <a:xfrm>
            <a:off x="801928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VETERINARY FOLLOW-UP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433DB3-12E5-44C3-A6AF-881A43A2E9AF}"/>
              </a:ext>
            </a:extLst>
          </p:cNvPr>
          <p:cNvSpPr>
            <a:spLocks noGrp="1"/>
          </p:cNvSpPr>
          <p:nvPr/>
        </p:nvSpPr>
        <p:spPr>
          <a:xfrm>
            <a:off x="801928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records, alerts and case review</a:t>
            </a:r>
          </a:p>
        </p:txBody>
      </p:sp>
    </p:spTree>
    <p:extLst>
      <p:ext uri="{BB962C8B-B14F-4D97-AF65-F5344CB8AC3E}">
        <p14:creationId xmlns:p14="http://schemas.microsoft.com/office/powerpoint/2010/main" val="268365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28A0-978F-3912-AED8-E758C120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89CE-3BFA-7AA3-FCC8-DA9D29AA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1" y="1527969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60253-485B-A551-20D4-2831B7AFD5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86A39-8288-5B56-EB37-ED1CF52E2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3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DBE75-EC8C-4DEF-8A68-2567C20385CB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5577840" cy="4069832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Smallholder dairy farms often depend on manual observation and paper records.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recognition of subtle health changes can affect animal welfare and milk productivity.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readers and wearable monitoring devices may increase setup and maintenance costs.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One-size-fits-all thresholds can overlook normal differences between individual cattle.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accessible digital identification combined with personalized, history-aware health assessment.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EFFD98-A90C-4975-8FC5-389F99B52620}"/>
              </a:ext>
            </a:extLst>
          </p:cNvPr>
          <p:cNvSpPr>
            <a:spLocks noGrp="1"/>
          </p:cNvSpPr>
          <p:nvPr/>
        </p:nvSpPr>
        <p:spPr>
          <a:xfrm>
            <a:off x="6720840" y="1646509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5888D-FD7F-430D-9902-98B295DA0644}"/>
              </a:ext>
            </a:extLst>
          </p:cNvPr>
          <p:cNvSpPr>
            <a:spLocks noGrp="1"/>
          </p:cNvSpPr>
          <p:nvPr/>
        </p:nvSpPr>
        <p:spPr>
          <a:xfrm>
            <a:off x="6830568" y="1754695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6F4AF-DF10-4177-A1FC-32480E85625E}"/>
              </a:ext>
            </a:extLst>
          </p:cNvPr>
          <p:cNvSpPr>
            <a:spLocks noGrp="1"/>
          </p:cNvSpPr>
          <p:nvPr/>
        </p:nvSpPr>
        <p:spPr>
          <a:xfrm>
            <a:off x="6830568" y="2131142"/>
            <a:ext cx="384962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Affordable, infrastructure-light cattle health management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61A423-84C8-4135-BEF5-83366B2A1821}"/>
              </a:ext>
            </a:extLst>
          </p:cNvPr>
          <p:cNvSpPr>
            <a:spLocks noGrp="1"/>
          </p:cNvSpPr>
          <p:nvPr/>
        </p:nvSpPr>
        <p:spPr>
          <a:xfrm>
            <a:off x="6766561" y="2904150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66AF52-5BE2-4538-9329-9613C9F6CBF6}"/>
              </a:ext>
            </a:extLst>
          </p:cNvPr>
          <p:cNvSpPr>
            <a:spLocks noGrp="1"/>
          </p:cNvSpPr>
          <p:nvPr/>
        </p:nvSpPr>
        <p:spPr>
          <a:xfrm>
            <a:off x="6830568" y="3087560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HEALTH SIGNALS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8416E-A9A6-4A87-BD3D-7A1638174F2E}"/>
              </a:ext>
            </a:extLst>
          </p:cNvPr>
          <p:cNvSpPr>
            <a:spLocks noGrp="1"/>
          </p:cNvSpPr>
          <p:nvPr/>
        </p:nvSpPr>
        <p:spPr>
          <a:xfrm>
            <a:off x="6830568" y="3490214"/>
            <a:ext cx="384962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weight • Feed intake • Milk yield • Temperature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65025E-D16F-4892-99D1-31E44E3E0748}"/>
              </a:ext>
            </a:extLst>
          </p:cNvPr>
          <p:cNvSpPr>
            <a:spLocks noGrp="1"/>
          </p:cNvSpPr>
          <p:nvPr/>
        </p:nvSpPr>
        <p:spPr>
          <a:xfrm>
            <a:off x="6720840" y="4212907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023C7-F15D-423A-AB0C-C1C986A0C22D}"/>
              </a:ext>
            </a:extLst>
          </p:cNvPr>
          <p:cNvSpPr>
            <a:spLocks noGrp="1"/>
          </p:cNvSpPr>
          <p:nvPr/>
        </p:nvSpPr>
        <p:spPr>
          <a:xfrm>
            <a:off x="6766561" y="4370055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BEBF8-F47D-45A1-8A18-F45F3BEC9427}"/>
              </a:ext>
            </a:extLst>
          </p:cNvPr>
          <p:cNvSpPr>
            <a:spLocks noGrp="1"/>
          </p:cNvSpPr>
          <p:nvPr/>
        </p:nvSpPr>
        <p:spPr>
          <a:xfrm>
            <a:off x="6830568" y="4807586"/>
            <a:ext cx="3849624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• Veterinarians • Administrators</a:t>
            </a:r>
          </a:p>
        </p:txBody>
      </p:sp>
    </p:spTree>
    <p:extLst>
      <p:ext uri="{BB962C8B-B14F-4D97-AF65-F5344CB8AC3E}">
        <p14:creationId xmlns:p14="http://schemas.microsoft.com/office/powerpoint/2010/main" val="289799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61C5-9785-5F5D-A824-6D3D79C4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1" y="365125"/>
            <a:ext cx="10515600" cy="1325563"/>
          </a:xfrm>
        </p:spPr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Existing System /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A9CA-4E21-9C6A-37FE-DBC7254266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87E7A-B989-2083-5B23-0F82EB1D71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4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10516-534D-4A59-AD2A-3D137A6D84CA}"/>
              </a:ext>
            </a:extLst>
          </p:cNvPr>
          <p:cNvSpPr>
            <a:spLocks noGrp="1"/>
          </p:cNvSpPr>
          <p:nvPr/>
        </p:nvSpPr>
        <p:spPr>
          <a:xfrm>
            <a:off x="755119" y="2164723"/>
            <a:ext cx="5074920" cy="304391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checks: depend on visible symptoms and periodic veterinary visits.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/ IoT collars: automate identification or sensing but require dedicated hardware.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thresholds: may not account for breed, lactation stage or individual baselines.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registers and applications: fragment vaccination, treatment and health histories</a:t>
            </a:r>
            <a:r>
              <a:rPr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91D47-ED84-48F5-84BB-48C13D34D6DF}"/>
              </a:ext>
            </a:extLst>
          </p:cNvPr>
          <p:cNvSpPr>
            <a:spLocks noGrp="1"/>
          </p:cNvSpPr>
          <p:nvPr/>
        </p:nvSpPr>
        <p:spPr>
          <a:xfrm>
            <a:off x="6361963" y="1583841"/>
            <a:ext cx="4800600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DIRECTIONS IN THE 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0BED2-A0FF-47A4-BF32-164FDED65BF9}"/>
              </a:ext>
            </a:extLst>
          </p:cNvPr>
          <p:cNvSpPr>
            <a:spLocks noGrp="1"/>
          </p:cNvSpPr>
          <p:nvPr/>
        </p:nvSpPr>
        <p:spPr>
          <a:xfrm>
            <a:off x="6263640" y="2240280"/>
            <a:ext cx="4800600" cy="3300391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collars and digital passports for non-invasive animal identification.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PLF, IoT and multimodal datasets for continuous livestock monitoring.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multivariate anomaly detection for health assessment.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anomaly detection and abstention when data are insufficient.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8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09D1-5FA4-C3B4-988B-19C978BA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Objective of the project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7E554-0833-5491-3ECD-D22DD91B6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51192-1B20-075D-6590-99B6D982DB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5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58A5A-F944-41E3-B997-D976EDA4D45C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8255655" cy="4044184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unique QR-based digital identity for every registered animal.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cattle profiles, health observations, vaccination and veterinary records.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personalized 14-day rolling baseline for four core health parameters.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CHDI using standardized deviations and multivariate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Mahalanobis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data-sufficiency checks,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trend analysis and LOCO feature attribution.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role-based workflows for farmers, veterinarians and administrators.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prototype using the available longitudinal cattle dataset.</a:t>
            </a:r>
          </a:p>
        </p:txBody>
      </p:sp>
    </p:spTree>
    <p:extLst>
      <p:ext uri="{BB962C8B-B14F-4D97-AF65-F5344CB8AC3E}">
        <p14:creationId xmlns:p14="http://schemas.microsoft.com/office/powerpoint/2010/main" val="138002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6090-75FC-2EC9-C6A4-C9D9BA5C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96068"/>
            <a:ext cx="10515600" cy="1325563"/>
          </a:xfrm>
        </p:spPr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Proposed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8AD5-BB8C-D550-A08B-B7C92A0D88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B344B-3531-940F-A917-A6236C85A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6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0184E-FD5A-410C-BF13-5DF0457253E0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10469880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9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cloud-based, sensor-optional platform connecting animal identity, health records and veterinary action.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886E89-B421-4703-BDAB-C7161B59DB74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984248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0FAA4-A32D-4DB6-A21E-F19172B383E4}"/>
              </a:ext>
            </a:extLst>
          </p:cNvPr>
          <p:cNvSpPr>
            <a:spLocks noGrp="1"/>
          </p:cNvSpPr>
          <p:nvPr/>
        </p:nvSpPr>
        <p:spPr>
          <a:xfrm>
            <a:off x="102412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1  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3523D-1F7F-45E5-A34D-82D3EDCF021F}"/>
              </a:ext>
            </a:extLst>
          </p:cNvPr>
          <p:cNvSpPr>
            <a:spLocks noGrp="1"/>
          </p:cNvSpPr>
          <p:nvPr/>
        </p:nvSpPr>
        <p:spPr>
          <a:xfrm>
            <a:off x="1024128" y="3172968"/>
            <a:ext cx="1655063" cy="12064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cattle profile and unique QR token.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132DA4-FBDF-4D44-97D8-7E1F3649F57F}"/>
              </a:ext>
            </a:extLst>
          </p:cNvPr>
          <p:cNvSpPr>
            <a:spLocks noGrp="1"/>
          </p:cNvSpPr>
          <p:nvPr/>
        </p:nvSpPr>
        <p:spPr>
          <a:xfrm>
            <a:off x="3017520" y="2743200"/>
            <a:ext cx="1874519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DA36E-EDBB-4250-9D53-B4A1E9FCE8F9}"/>
              </a:ext>
            </a:extLst>
          </p:cNvPr>
          <p:cNvSpPr>
            <a:spLocks noGrp="1"/>
          </p:cNvSpPr>
          <p:nvPr/>
        </p:nvSpPr>
        <p:spPr>
          <a:xfrm>
            <a:off x="312724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2 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009B2-AE4B-4BE7-BA7F-B239B2CEAF49}"/>
              </a:ext>
            </a:extLst>
          </p:cNvPr>
          <p:cNvSpPr>
            <a:spLocks noGrp="1"/>
          </p:cNvSpPr>
          <p:nvPr/>
        </p:nvSpPr>
        <p:spPr>
          <a:xfrm>
            <a:off x="3127248" y="3172968"/>
            <a:ext cx="1655063" cy="9140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Log weight, feed, milk and temperature.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AE2470-0213-4FC3-A42D-140262E0F0FF}"/>
              </a:ext>
            </a:extLst>
          </p:cNvPr>
          <p:cNvSpPr>
            <a:spLocks noGrp="1"/>
          </p:cNvSpPr>
          <p:nvPr/>
        </p:nvSpPr>
        <p:spPr>
          <a:xfrm>
            <a:off x="5120640" y="2743200"/>
            <a:ext cx="1984248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F270F-60C5-4147-BD49-613CACC7F90B}"/>
              </a:ext>
            </a:extLst>
          </p:cNvPr>
          <p:cNvSpPr>
            <a:spLocks noGrp="1"/>
          </p:cNvSpPr>
          <p:nvPr/>
        </p:nvSpPr>
        <p:spPr>
          <a:xfrm>
            <a:off x="523036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3  ANALYZE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C0418-3CDA-4B6F-887D-FE51423486FE}"/>
              </a:ext>
            </a:extLst>
          </p:cNvPr>
          <p:cNvSpPr>
            <a:spLocks noGrp="1"/>
          </p:cNvSpPr>
          <p:nvPr/>
        </p:nvSpPr>
        <p:spPr>
          <a:xfrm>
            <a:off x="5230368" y="3172968"/>
            <a:ext cx="1655063" cy="149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observations with the animal’s 14-day baseline.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4DBBBF-5D25-429B-9E37-1B219E52993F}"/>
              </a:ext>
            </a:extLst>
          </p:cNvPr>
          <p:cNvSpPr>
            <a:spLocks noGrp="1"/>
          </p:cNvSpPr>
          <p:nvPr/>
        </p:nvSpPr>
        <p:spPr>
          <a:xfrm>
            <a:off x="7223759" y="2743200"/>
            <a:ext cx="1993392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C2055B-6621-49AE-8620-E332AD3D8054}"/>
              </a:ext>
            </a:extLst>
          </p:cNvPr>
          <p:cNvSpPr>
            <a:spLocks noGrp="1"/>
          </p:cNvSpPr>
          <p:nvPr/>
        </p:nvSpPr>
        <p:spPr>
          <a:xfrm>
            <a:off x="733348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4  EXPLAIN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4FE662-B4A6-4243-89BD-FE5375A9491C}"/>
              </a:ext>
            </a:extLst>
          </p:cNvPr>
          <p:cNvSpPr>
            <a:spLocks noGrp="1"/>
          </p:cNvSpPr>
          <p:nvPr/>
        </p:nvSpPr>
        <p:spPr>
          <a:xfrm>
            <a:off x="7333488" y="3172968"/>
            <a:ext cx="1655063" cy="12064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CHDI status, trends and contributing signals.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26212D-2984-4DA0-8440-4C1DE26DFEDF}"/>
              </a:ext>
            </a:extLst>
          </p:cNvPr>
          <p:cNvSpPr>
            <a:spLocks noGrp="1"/>
          </p:cNvSpPr>
          <p:nvPr/>
        </p:nvSpPr>
        <p:spPr>
          <a:xfrm>
            <a:off x="9326880" y="2743200"/>
            <a:ext cx="1950720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9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80935D-3746-4437-AE23-C298101F5D4B}"/>
              </a:ext>
            </a:extLst>
          </p:cNvPr>
          <p:cNvSpPr>
            <a:spLocks noGrp="1"/>
          </p:cNvSpPr>
          <p:nvPr/>
        </p:nvSpPr>
        <p:spPr>
          <a:xfrm>
            <a:off x="9436607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5  RESPOND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FBE91-D562-4F07-9E56-8A2B38454F6C}"/>
              </a:ext>
            </a:extLst>
          </p:cNvPr>
          <p:cNvSpPr>
            <a:spLocks noGrp="1"/>
          </p:cNvSpPr>
          <p:nvPr/>
        </p:nvSpPr>
        <p:spPr>
          <a:xfrm>
            <a:off x="9436607" y="3172968"/>
            <a:ext cx="1655063" cy="149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at-risk cases for veterinary review and feedback.</a:t>
            </a:r>
          </a:p>
        </p:txBody>
      </p:sp>
    </p:spTree>
    <p:extLst>
      <p:ext uri="{BB962C8B-B14F-4D97-AF65-F5344CB8AC3E}">
        <p14:creationId xmlns:p14="http://schemas.microsoft.com/office/powerpoint/2010/main" val="105559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D0DE-F343-7DE5-EBEA-9FD0BC7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Architecture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687F4-97AD-2F5A-8CF2-BD38254DF4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E8C64-5FF9-3AF6-80AF-E355FE894F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07CA8-5604-4FC3-A582-707DCE953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70" y="1526489"/>
            <a:ext cx="9335668" cy="466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5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EA52-A052-EF6E-B37A-CDFA7152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Technology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06763-B5E8-5369-5FE7-E74BC83543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CF371-7C57-F90F-5F29-6B980CD692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8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832BF4-2CC3-4C18-A9C1-D86B335AA163}"/>
              </a:ext>
            </a:extLst>
          </p:cNvPr>
          <p:cNvSpPr>
            <a:spLocks noGrp="1"/>
          </p:cNvSpPr>
          <p:nvPr/>
        </p:nvSpPr>
        <p:spPr>
          <a:xfrm>
            <a:off x="914400" y="1737360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F91B5-2CD2-4011-AA3C-45F11477F00C}"/>
              </a:ext>
            </a:extLst>
          </p:cNvPr>
          <p:cNvSpPr>
            <a:spLocks noGrp="1"/>
          </p:cNvSpPr>
          <p:nvPr/>
        </p:nvSpPr>
        <p:spPr>
          <a:xfrm>
            <a:off x="1024128" y="181051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0D603-30F8-4C46-A788-55698C00EB58}"/>
              </a:ext>
            </a:extLst>
          </p:cNvPr>
          <p:cNvSpPr>
            <a:spLocks noGrp="1"/>
          </p:cNvSpPr>
          <p:nvPr/>
        </p:nvSpPr>
        <p:spPr>
          <a:xfrm>
            <a:off x="1024128" y="2167128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Next.js 16 • React 19 • Tailwind CSS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5D97CC-3DCD-43BC-90DD-3B746DAA4FB5}"/>
              </a:ext>
            </a:extLst>
          </p:cNvPr>
          <p:cNvSpPr>
            <a:spLocks noGrp="1"/>
          </p:cNvSpPr>
          <p:nvPr/>
        </p:nvSpPr>
        <p:spPr>
          <a:xfrm>
            <a:off x="6172200" y="1737360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CD1AE-41A2-4E94-A44E-009E818239DD}"/>
              </a:ext>
            </a:extLst>
          </p:cNvPr>
          <p:cNvSpPr>
            <a:spLocks noGrp="1"/>
          </p:cNvSpPr>
          <p:nvPr/>
        </p:nvSpPr>
        <p:spPr>
          <a:xfrm>
            <a:off x="6281928" y="181051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01F6F-0873-4B05-B250-942C5586D5AA}"/>
              </a:ext>
            </a:extLst>
          </p:cNvPr>
          <p:cNvSpPr>
            <a:spLocks noGrp="1"/>
          </p:cNvSpPr>
          <p:nvPr/>
        </p:nvSpPr>
        <p:spPr>
          <a:xfrm>
            <a:off x="6281928" y="2167128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Next.js API routes • Node.js • REST APIs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225B3B-67A7-4C18-9194-41FD4397E1DC}"/>
              </a:ext>
            </a:extLst>
          </p:cNvPr>
          <p:cNvSpPr>
            <a:spLocks noGrp="1"/>
          </p:cNvSpPr>
          <p:nvPr/>
        </p:nvSpPr>
        <p:spPr>
          <a:xfrm>
            <a:off x="914400" y="3090672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2E5D1-5996-4705-9CCB-37917CB797AB}"/>
              </a:ext>
            </a:extLst>
          </p:cNvPr>
          <p:cNvSpPr>
            <a:spLocks noGrp="1"/>
          </p:cNvSpPr>
          <p:nvPr/>
        </p:nvSpPr>
        <p:spPr>
          <a:xfrm>
            <a:off x="1024128" y="3163824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1218B-8219-40D2-8C85-FED4424E8091}"/>
              </a:ext>
            </a:extLst>
          </p:cNvPr>
          <p:cNvSpPr>
            <a:spLocks noGrp="1"/>
          </p:cNvSpPr>
          <p:nvPr/>
        </p:nvSpPr>
        <p:spPr>
          <a:xfrm>
            <a:off x="1024128" y="3520439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(Neon Serverless) • Prisma ORM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225130C-D8DA-4499-8F86-009ACD95DCA4}"/>
              </a:ext>
            </a:extLst>
          </p:cNvPr>
          <p:cNvSpPr>
            <a:spLocks noGrp="1"/>
          </p:cNvSpPr>
          <p:nvPr/>
        </p:nvSpPr>
        <p:spPr>
          <a:xfrm>
            <a:off x="6172200" y="3090672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0A2E33-5DBC-408A-8E86-6754BF23C3F3}"/>
              </a:ext>
            </a:extLst>
          </p:cNvPr>
          <p:cNvSpPr>
            <a:spLocks noGrp="1"/>
          </p:cNvSpPr>
          <p:nvPr/>
        </p:nvSpPr>
        <p:spPr>
          <a:xfrm>
            <a:off x="6281928" y="3163824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3C217-8604-4C4B-88AA-51889E98D002}"/>
              </a:ext>
            </a:extLst>
          </p:cNvPr>
          <p:cNvSpPr>
            <a:spLocks noGrp="1"/>
          </p:cNvSpPr>
          <p:nvPr/>
        </p:nvSpPr>
        <p:spPr>
          <a:xfrm>
            <a:off x="6281928" y="3520439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Python • FastAPI • NumPy • SciPy • Pandas • Scikit-learn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32F36ED-F384-447E-95A3-59E47A0577F9}"/>
              </a:ext>
            </a:extLst>
          </p:cNvPr>
          <p:cNvSpPr>
            <a:spLocks noGrp="1"/>
          </p:cNvSpPr>
          <p:nvPr/>
        </p:nvSpPr>
        <p:spPr>
          <a:xfrm>
            <a:off x="914400" y="4443983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77747-8A67-4445-A9B6-3BCC968A7CF8}"/>
              </a:ext>
            </a:extLst>
          </p:cNvPr>
          <p:cNvSpPr>
            <a:spLocks noGrp="1"/>
          </p:cNvSpPr>
          <p:nvPr/>
        </p:nvSpPr>
        <p:spPr>
          <a:xfrm>
            <a:off x="1024128" y="4517136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QR generation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39C4ED-EFA5-47C1-94F0-8732BCD9373E}"/>
              </a:ext>
            </a:extLst>
          </p:cNvPr>
          <p:cNvSpPr>
            <a:spLocks noGrp="1"/>
          </p:cNvSpPr>
          <p:nvPr/>
        </p:nvSpPr>
        <p:spPr>
          <a:xfrm>
            <a:off x="1024128" y="4873751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qrcode (npm) • HTML5 Canvas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383E803-8A33-41F4-B203-6B2AA31E0B49}"/>
              </a:ext>
            </a:extLst>
          </p:cNvPr>
          <p:cNvSpPr>
            <a:spLocks noGrp="1"/>
          </p:cNvSpPr>
          <p:nvPr/>
        </p:nvSpPr>
        <p:spPr>
          <a:xfrm>
            <a:off x="6172200" y="4443983"/>
            <a:ext cx="4995672" cy="1112626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475D74-75FC-449C-B810-546497432C46}"/>
              </a:ext>
            </a:extLst>
          </p:cNvPr>
          <p:cNvSpPr>
            <a:spLocks noGrp="1"/>
          </p:cNvSpPr>
          <p:nvPr/>
        </p:nvSpPr>
        <p:spPr>
          <a:xfrm>
            <a:off x="6281928" y="4517136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D27E30-263E-4505-944D-3DDC074EF8B4}"/>
              </a:ext>
            </a:extLst>
          </p:cNvPr>
          <p:cNvSpPr>
            <a:spLocks noGrp="1"/>
          </p:cNvSpPr>
          <p:nvPr/>
        </p:nvSpPr>
        <p:spPr>
          <a:xfrm>
            <a:off x="6281928" y="4873751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camera • Laminated / UV-resistant QR tag • Cloud server</a:t>
            </a:r>
          </a:p>
        </p:txBody>
      </p:sp>
    </p:spTree>
    <p:extLst>
      <p:ext uri="{BB962C8B-B14F-4D97-AF65-F5344CB8AC3E}">
        <p14:creationId xmlns:p14="http://schemas.microsoft.com/office/powerpoint/2010/main" val="4957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786D-47F7-8FE9-D42F-90D307C4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Module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F3D12-B7A4-C89B-DAF7-28676EF534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1A2B7-95BE-4D6B-2E42-F0177E967E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9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4A209F-190E-4EC5-896F-343AB8099199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6CBEC-1E50-451E-99F7-E7F5A56579D1}"/>
              </a:ext>
            </a:extLst>
          </p:cNvPr>
          <p:cNvSpPr>
            <a:spLocks noGrp="1"/>
          </p:cNvSpPr>
          <p:nvPr/>
        </p:nvSpPr>
        <p:spPr>
          <a:xfrm>
            <a:off x="10241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01  Authentication &amp; RBAC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41E24-4065-481D-814D-11FF53F7974E}"/>
              </a:ext>
            </a:extLst>
          </p:cNvPr>
          <p:cNvSpPr>
            <a:spLocks noGrp="1"/>
          </p:cNvSpPr>
          <p:nvPr/>
        </p:nvSpPr>
        <p:spPr>
          <a:xfrm>
            <a:off x="10241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Separate farmer, veterinarian and administrator permissions; protect routes and sensitive record updates.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B3786B-B4B4-4644-858E-2C9B4D74C167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E7A95-8BC7-4DF2-9A08-0420D7EACC8D}"/>
              </a:ext>
            </a:extLst>
          </p:cNvPr>
          <p:cNvSpPr>
            <a:spLocks noGrp="1"/>
          </p:cNvSpPr>
          <p:nvPr/>
        </p:nvSpPr>
        <p:spPr>
          <a:xfrm>
            <a:off x="62819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02  Cattle Identification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834FA-0FB2-4092-A13D-6CB4074DED18}"/>
              </a:ext>
            </a:extLst>
          </p:cNvPr>
          <p:cNvSpPr>
            <a:spLocks noGrp="1"/>
          </p:cNvSpPr>
          <p:nvPr/>
        </p:nvSpPr>
        <p:spPr>
          <a:xfrm>
            <a:off x="62819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animals, manage breed and lactation details, and issue a unique QR digital passport.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1B17AD-1E62-4199-A471-7A2CA6101970}"/>
              </a:ext>
            </a:extLst>
          </p:cNvPr>
          <p:cNvSpPr>
            <a:spLocks noGrp="1"/>
          </p:cNvSpPr>
          <p:nvPr/>
        </p:nvSpPr>
        <p:spPr>
          <a:xfrm>
            <a:off x="9144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80A388-F701-46C4-BA7A-A54A35F39705}"/>
              </a:ext>
            </a:extLst>
          </p:cNvPr>
          <p:cNvSpPr>
            <a:spLocks noGrp="1"/>
          </p:cNvSpPr>
          <p:nvPr/>
        </p:nvSpPr>
        <p:spPr>
          <a:xfrm>
            <a:off x="10241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03  Health Data 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A6559-8B07-4DC0-A043-43F0015A749E}"/>
              </a:ext>
            </a:extLst>
          </p:cNvPr>
          <p:cNvSpPr>
            <a:spLocks noGrp="1"/>
          </p:cNvSpPr>
          <p:nvPr/>
        </p:nvSpPr>
        <p:spPr>
          <a:xfrm>
            <a:off x="10241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Capture body weight, feed intake, milk production and core temperature as timestamped records.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66FAC10-431C-48F9-B568-EAFDA6B87247}"/>
              </a:ext>
            </a:extLst>
          </p:cNvPr>
          <p:cNvSpPr>
            <a:spLocks noGrp="1"/>
          </p:cNvSpPr>
          <p:nvPr/>
        </p:nvSpPr>
        <p:spPr>
          <a:xfrm>
            <a:off x="61722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21CE6-A36F-4C59-A7AA-5C97CC8442EA}"/>
              </a:ext>
            </a:extLst>
          </p:cNvPr>
          <p:cNvSpPr>
            <a:spLocks noGrp="1"/>
          </p:cNvSpPr>
          <p:nvPr/>
        </p:nvSpPr>
        <p:spPr>
          <a:xfrm>
            <a:off x="62819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04  Medical &amp; Vaccination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BD22E4-DDA4-42C4-96F8-AC6AF55A27B8}"/>
              </a:ext>
            </a:extLst>
          </p:cNvPr>
          <p:cNvSpPr>
            <a:spLocks noGrp="1"/>
          </p:cNvSpPr>
          <p:nvPr/>
        </p:nvSpPr>
        <p:spPr>
          <a:xfrm>
            <a:off x="6281928" y="4178807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Maintain vaccination, deworming, diagnosis, treatment and follow-up information.</a:t>
            </a:r>
          </a:p>
        </p:txBody>
      </p:sp>
    </p:spTree>
    <p:extLst>
      <p:ext uri="{BB962C8B-B14F-4D97-AF65-F5344CB8AC3E}">
        <p14:creationId xmlns:p14="http://schemas.microsoft.com/office/powerpoint/2010/main" val="221438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0957-E354-94CD-F453-B0FE8F60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Module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52F03-70B3-B587-0E05-270D59D79C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A384-8E9A-FDD7-FB8B-046737A7A2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10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9206CDD-81DF-4CB6-89AE-FA7C808C9CC6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83D47-7F9B-41BE-9A80-A4A125760CC1}"/>
              </a:ext>
            </a:extLst>
          </p:cNvPr>
          <p:cNvSpPr>
            <a:spLocks noGrp="1"/>
          </p:cNvSpPr>
          <p:nvPr/>
        </p:nvSpPr>
        <p:spPr>
          <a:xfrm>
            <a:off x="10241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05  Baseline &amp; CHDI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FA05D-1BAA-43FA-96E2-BC2D8651CE0B}"/>
              </a:ext>
            </a:extLst>
          </p:cNvPr>
          <p:cNvSpPr>
            <a:spLocks noGrp="1"/>
          </p:cNvSpPr>
          <p:nvPr/>
        </p:nvSpPr>
        <p:spPr>
          <a:xfrm>
            <a:off x="10241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Build 14-day rolling statistics, normalize signals and calculate covariance-weighted Mahalanobis distance.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ABEEB9-C9EC-43B1-964E-0D4394AF8D9D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FCFE4-5413-405B-89CD-087CEDF7E793}"/>
              </a:ext>
            </a:extLst>
          </p:cNvPr>
          <p:cNvSpPr>
            <a:spLocks noGrp="1"/>
          </p:cNvSpPr>
          <p:nvPr/>
        </p:nvSpPr>
        <p:spPr>
          <a:xfrm>
            <a:off x="62819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06  Health Trends &amp;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90436-36CB-4FDC-A1EB-20EAC2F172BC}"/>
              </a:ext>
            </a:extLst>
          </p:cNvPr>
          <p:cNvSpPr>
            <a:spLocks noGrp="1"/>
          </p:cNvSpPr>
          <p:nvPr/>
        </p:nvSpPr>
        <p:spPr>
          <a:xfrm>
            <a:off x="6281928" y="2258568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Review 7-day and 30-day history and identify changing CHDI patterns.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72E264-CFB0-4A6B-98C1-E714387BB523}"/>
              </a:ext>
            </a:extLst>
          </p:cNvPr>
          <p:cNvSpPr>
            <a:spLocks noGrp="1"/>
          </p:cNvSpPr>
          <p:nvPr/>
        </p:nvSpPr>
        <p:spPr>
          <a:xfrm>
            <a:off x="9144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B20A1-9E3A-475D-AE40-E32A88AD848B}"/>
              </a:ext>
            </a:extLst>
          </p:cNvPr>
          <p:cNvSpPr>
            <a:spLocks noGrp="1"/>
          </p:cNvSpPr>
          <p:nvPr/>
        </p:nvSpPr>
        <p:spPr>
          <a:xfrm>
            <a:off x="10241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07  Explainability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8FC76-58C1-4ED4-94CF-0BEA395BABAB}"/>
              </a:ext>
            </a:extLst>
          </p:cNvPr>
          <p:cNvSpPr>
            <a:spLocks noGrp="1"/>
          </p:cNvSpPr>
          <p:nvPr/>
        </p:nvSpPr>
        <p:spPr>
          <a:xfrm>
            <a:off x="10241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 leave-one-covariate-out (LOCO) attribution to show which signals contribute to an alert.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4FD4A9-273F-49AE-98A5-7722A51F1BBE}"/>
              </a:ext>
            </a:extLst>
          </p:cNvPr>
          <p:cNvSpPr>
            <a:spLocks noGrp="1"/>
          </p:cNvSpPr>
          <p:nvPr/>
        </p:nvSpPr>
        <p:spPr>
          <a:xfrm>
            <a:off x="61722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3D5ED-D5FF-4BBD-AE49-D4F0C601B0E9}"/>
              </a:ext>
            </a:extLst>
          </p:cNvPr>
          <p:cNvSpPr>
            <a:spLocks noGrp="1"/>
          </p:cNvSpPr>
          <p:nvPr/>
        </p:nvSpPr>
        <p:spPr>
          <a:xfrm>
            <a:off x="62819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08  Veterinary Alerts &amp; Feedback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29E11-CEDB-4759-A9E4-D0D101AB687F}"/>
              </a:ext>
            </a:extLst>
          </p:cNvPr>
          <p:cNvSpPr>
            <a:spLocks noGrp="1"/>
          </p:cNvSpPr>
          <p:nvPr/>
        </p:nvSpPr>
        <p:spPr>
          <a:xfrm>
            <a:off x="62819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323C46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cases, assign veterinary review, record diagnosis/treatment and capture verified feedback.</a:t>
            </a:r>
          </a:p>
        </p:txBody>
      </p:sp>
    </p:spTree>
    <p:extLst>
      <p:ext uri="{BB962C8B-B14F-4D97-AF65-F5344CB8AC3E}">
        <p14:creationId xmlns:p14="http://schemas.microsoft.com/office/powerpoint/2010/main" val="316994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CE46-BAAB-CAA4-05A8-372CB2C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Results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A26E-B422-E60D-0452-51DAD617AF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3AC5E-D62B-45BD-A69A-BD9FA4177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7236" y="1857388"/>
            <a:ext cx="3934887" cy="2411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D4D426-9E12-46B8-86D0-0CFA1657A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0" y="1789612"/>
            <a:ext cx="4754879" cy="2547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12F2F3-DB23-41EC-8B06-93FCD04094C9}"/>
              </a:ext>
            </a:extLst>
          </p:cNvPr>
          <p:cNvSpPr>
            <a:spLocks noGrp="1"/>
          </p:cNvSpPr>
          <p:nvPr/>
        </p:nvSpPr>
        <p:spPr>
          <a:xfrm>
            <a:off x="914400" y="4480560"/>
            <a:ext cx="1024128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MAHALANOBIS CHDI — REPORTED 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66022-4A92-47E8-BFA2-D233FA28C698}"/>
              </a:ext>
            </a:extLst>
          </p:cNvPr>
          <p:cNvSpPr>
            <a:spLocks noGrp="1"/>
          </p:cNvSpPr>
          <p:nvPr/>
        </p:nvSpPr>
        <p:spPr>
          <a:xfrm>
            <a:off x="914400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91.20%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7B772-51CB-48A6-B139-60B8FEF57DEA}"/>
              </a:ext>
            </a:extLst>
          </p:cNvPr>
          <p:cNvSpPr>
            <a:spLocks noGrp="1"/>
          </p:cNvSpPr>
          <p:nvPr/>
        </p:nvSpPr>
        <p:spPr>
          <a:xfrm>
            <a:off x="914400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70671-E9C2-4160-B084-B6A563779F92}"/>
              </a:ext>
            </a:extLst>
          </p:cNvPr>
          <p:cNvSpPr>
            <a:spLocks noGrp="1"/>
          </p:cNvSpPr>
          <p:nvPr/>
        </p:nvSpPr>
        <p:spPr>
          <a:xfrm>
            <a:off x="2999232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96.85</a:t>
            </a:r>
            <a:r>
              <a:rPr sz="2000" dirty="0"/>
              <a:t>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73D70-6FBE-4DF5-8E96-35FF9033B896}"/>
              </a:ext>
            </a:extLst>
          </p:cNvPr>
          <p:cNvSpPr>
            <a:spLocks noGrp="1"/>
          </p:cNvSpPr>
          <p:nvPr/>
        </p:nvSpPr>
        <p:spPr>
          <a:xfrm>
            <a:off x="2999232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4253F-CEBD-4357-BBCF-80E53CDE4072}"/>
              </a:ext>
            </a:extLst>
          </p:cNvPr>
          <p:cNvSpPr>
            <a:spLocks noGrp="1"/>
          </p:cNvSpPr>
          <p:nvPr/>
        </p:nvSpPr>
        <p:spPr>
          <a:xfrm>
            <a:off x="5084064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88.50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15C57-B436-435D-A793-12F6B0FA4214}"/>
              </a:ext>
            </a:extLst>
          </p:cNvPr>
          <p:cNvSpPr>
            <a:spLocks noGrp="1"/>
          </p:cNvSpPr>
          <p:nvPr/>
        </p:nvSpPr>
        <p:spPr>
          <a:xfrm>
            <a:off x="5084064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5EA48-BA4C-46AA-B22D-5D453BA5FECB}"/>
              </a:ext>
            </a:extLst>
          </p:cNvPr>
          <p:cNvSpPr>
            <a:spLocks noGrp="1"/>
          </p:cNvSpPr>
          <p:nvPr/>
        </p:nvSpPr>
        <p:spPr>
          <a:xfrm>
            <a:off x="7168896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1669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89.82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D00CED-342E-494B-8C06-40901FE58CEF}"/>
              </a:ext>
            </a:extLst>
          </p:cNvPr>
          <p:cNvSpPr>
            <a:spLocks noGrp="1"/>
          </p:cNvSpPr>
          <p:nvPr/>
        </p:nvSpPr>
        <p:spPr>
          <a:xfrm>
            <a:off x="7168896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46505A"/>
                </a:solidFill>
                <a:latin typeface="Aptos"/>
                <a:ea typeface="Aptos"/>
                <a:cs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</p:spTree>
    <p:extLst>
      <p:ext uri="{BB962C8B-B14F-4D97-AF65-F5344CB8AC3E}">
        <p14:creationId xmlns:p14="http://schemas.microsoft.com/office/powerpoint/2010/main" val="305107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D1A6-9E48-6BC3-2E99-BD8D4E96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Screenshots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D207-EA2F-9361-FF07-A295D75C54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6078D-E05A-668D-D7D3-6EAEA60154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12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29DB8-502D-4228-B621-A1A32AD3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846" y="1600200"/>
            <a:ext cx="3561347" cy="1691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60C821-44C0-48D1-882A-06C7FAEEEF77}"/>
              </a:ext>
            </a:extLst>
          </p:cNvPr>
          <p:cNvSpPr>
            <a:spLocks noGrp="1"/>
          </p:cNvSpPr>
          <p:nvPr/>
        </p:nvSpPr>
        <p:spPr>
          <a:xfrm>
            <a:off x="914400" y="330098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QR scanner / digital identity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1BF6AD-11AB-4C28-9D78-D10AA63BF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9" y="1600200"/>
            <a:ext cx="3394240" cy="1691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A7A1CD-8037-4A27-BDE2-9DC022AFF1C0}"/>
              </a:ext>
            </a:extLst>
          </p:cNvPr>
          <p:cNvSpPr>
            <a:spLocks noGrp="1"/>
          </p:cNvSpPr>
          <p:nvPr/>
        </p:nvSpPr>
        <p:spPr>
          <a:xfrm>
            <a:off x="6172200" y="330098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Health &amp; vaccine records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B94E51-604F-478F-B6A4-5FE0BA827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926" y="3840480"/>
            <a:ext cx="3629267" cy="16916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9E6BEE-FC19-4016-946D-D45B5F5320BA}"/>
              </a:ext>
            </a:extLst>
          </p:cNvPr>
          <p:cNvSpPr>
            <a:spLocks noGrp="1"/>
          </p:cNvSpPr>
          <p:nvPr/>
        </p:nvSpPr>
        <p:spPr>
          <a:xfrm>
            <a:off x="914400" y="554126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Veterinary case queue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A36BE1-ADBE-4E4D-99D9-F4219E800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63" y="3840480"/>
            <a:ext cx="4268392" cy="16916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B4ECEF-72B0-4CC8-98BC-62CAB7B9587B}"/>
              </a:ext>
            </a:extLst>
          </p:cNvPr>
          <p:cNvSpPr>
            <a:spLocks noGrp="1"/>
          </p:cNvSpPr>
          <p:nvPr/>
        </p:nvSpPr>
        <p:spPr>
          <a:xfrm>
            <a:off x="6172200" y="5541264"/>
            <a:ext cx="4846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t>Cattle herd roster</a:t>
            </a:r>
          </a:p>
        </p:txBody>
      </p:sp>
    </p:spTree>
    <p:extLst>
      <p:ext uri="{BB962C8B-B14F-4D97-AF65-F5344CB8AC3E}">
        <p14:creationId xmlns:p14="http://schemas.microsoft.com/office/powerpoint/2010/main" val="90183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D766-50C1-4B7C-E796-F3067CC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3F86-DD42-61B4-D19F-D4288317C1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5FAC0-2EAA-8E1B-B250-FA256F786D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13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A6B6C-A39E-4C06-9A72-60A2139BDDC4}"/>
              </a:ext>
            </a:extLst>
          </p:cNvPr>
          <p:cNvSpPr>
            <a:spLocks noGrp="1"/>
          </p:cNvSpPr>
          <p:nvPr/>
        </p:nvSpPr>
        <p:spPr>
          <a:xfrm>
            <a:off x="838200" y="1851660"/>
            <a:ext cx="4983480" cy="260994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0">
                <a:solidFill>
                  <a:srgbClr val="2D3741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combines QR-based cattle identity, centralized digital records and personalized CHDI assessment. The reported evaluation indicates improved detection performance over the compared threshold-based and univariate approaches. It can support earlier identification of unusual health patterns and structured veterinary follow-up.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45465-69EA-4E74-A57B-522DA4F6DBC3}"/>
              </a:ext>
            </a:extLst>
          </p:cNvPr>
          <p:cNvSpPr>
            <a:spLocks noGrp="1"/>
          </p:cNvSpPr>
          <p:nvPr/>
        </p:nvSpPr>
        <p:spPr>
          <a:xfrm>
            <a:off x="6217920" y="1645920"/>
            <a:ext cx="484632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700" b="1">
                <a:solidFill>
                  <a:srgbClr val="166978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0215F-5582-4573-9608-880D7A333574}"/>
              </a:ext>
            </a:extLst>
          </p:cNvPr>
          <p:cNvSpPr>
            <a:spLocks noGrp="1"/>
          </p:cNvSpPr>
          <p:nvPr/>
        </p:nvSpPr>
        <p:spPr>
          <a:xfrm>
            <a:off x="6217920" y="2148840"/>
            <a:ext cx="4846320" cy="2543773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lang="en-IN" sz="2000" dirty="0">
                <a:solidFill>
                  <a:srgbClr val="303A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 and WhatsApp alerts for cattle health risks and veterinary appointments.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buNone/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health logging in Tamil, Hindi and other regional languages.</a:t>
            </a:r>
          </a:p>
          <a:p>
            <a:pPr>
              <a:spcAft>
                <a:spcPts val="900"/>
              </a:spcAft>
              <a:buNone/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data capture and synchronization for low-connectivity farms.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buNone/>
              <a:defRPr sz="15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1030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1787-BEB0-6CE3-A1C7-20922109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40F2-CF62-1E11-C943-BB918F8257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latin typeface="Aptos"/>
                <a:ea typeface="Aptos"/>
                <a:cs typeface="Aptos"/>
              </a:defRPr>
            </a:pPr>
            <a: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1EF9-FF3A-7AD8-3761-6A39C5BBAD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rPr/>
              <a:t>14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57288-1681-4BB1-AF32-F29DA5FEBBD8}"/>
              </a:ext>
            </a:extLst>
          </p:cNvPr>
          <p:cNvSpPr>
            <a:spLocks noGrp="1"/>
          </p:cNvSpPr>
          <p:nvPr/>
        </p:nvSpPr>
        <p:spPr>
          <a:xfrm>
            <a:off x="914400" y="1645920"/>
            <a:ext cx="10287000" cy="4005712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Ankitha et al., IoT and thermal-imaging approaches for clinical mastitis detection.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Aquilani et al., Review of Precision Livestock Farming technologies in pasture-based systems.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Bumbálek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Non-invasive cattle identification methods, including QR-code collars.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Curti et al., Machine-learning approaches using individual cow health records.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Fan et al., Personalized anomaly detection for physiological telemetry.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Garg et al., Multiparametric machine-learning models for early bovine disease prognosis.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Hostens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Longitudinal dairy-cattle production and physiological dataset.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Mehta et al., Selective classification and abstention in clinical machine learning.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Pereira et al., Review of passive UHF RFID technologies for animal tracking.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303A44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Waldron, Statistical frame theory and multivariate anomaly detection in biotelemetry.</a:t>
            </a:r>
          </a:p>
        </p:txBody>
      </p:sp>
    </p:spTree>
    <p:extLst>
      <p:ext uri="{BB962C8B-B14F-4D97-AF65-F5344CB8AC3E}">
        <p14:creationId xmlns:p14="http://schemas.microsoft.com/office/powerpoint/2010/main" val="88011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1032</Words>
  <Application>Microsoft Office PowerPoint</Application>
  <DocSecurity>0</DocSecurity>
  <PresentationFormat>Widescreen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Department of Information Technology</vt:lpstr>
      <vt:lpstr>Abstract</vt:lpstr>
      <vt:lpstr>Introduction</vt:lpstr>
      <vt:lpstr>Existing System / Literature Review</vt:lpstr>
      <vt:lpstr>Objective of the project work</vt:lpstr>
      <vt:lpstr>Proposed System</vt:lpstr>
      <vt:lpstr>Architecture Diagram</vt:lpstr>
      <vt:lpstr>Technology Used</vt:lpstr>
      <vt:lpstr>Module Description</vt:lpstr>
      <vt:lpstr>Module Description</vt:lpstr>
      <vt:lpstr>Results &amp; Discussion</vt:lpstr>
      <vt:lpstr>Screenshots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Sabari Karthick</cp:lastModifiedBy>
  <cp:revision>5</cp:revision>
  <dcterms:created xsi:type="dcterms:W3CDTF">2026-10-30T21:18:39Z</dcterms:created>
  <dcterms:modified xsi:type="dcterms:W3CDTF">2026-10-31T01:42:14Z</dcterms:modified>
</cp:coreProperties>
</file>