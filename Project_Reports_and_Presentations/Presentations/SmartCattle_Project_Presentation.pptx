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52CEA-CAAA-4103-8FD8-0BC5C1DE3EA3}" v="7" dt="2026-03-12T04:50:50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>
        <p:scale>
          <a:sx n="118" d="100"/>
          <a:sy n="118" d="100"/>
        </p:scale>
        <p:origin x="-24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 C" userId="87dcde48-8664-4a63-b5cd-43d78052eb24" providerId="ADAL" clId="{353E8B16-E742-486F-8C04-A6E2C1B0DCFB}"/>
    <pc:docChg chg="custSel addSld modSld">
      <pc:chgData name="Santhosh Kumar C" userId="87dcde48-8664-4a63-b5cd-43d78052eb24" providerId="ADAL" clId="{353E8B16-E742-486F-8C04-A6E2C1B0DCFB}" dt="2026-03-12T04:51:56.920" v="338" actId="20577"/>
      <pc:docMkLst>
        <pc:docMk/>
      </pc:docMkLst>
      <pc:sldChg chg="addSp modSp mod">
        <pc:chgData name="Santhosh Kumar C" userId="87dcde48-8664-4a63-b5cd-43d78052eb24" providerId="ADAL" clId="{353E8B16-E742-486F-8C04-A6E2C1B0DCFB}" dt="2026-03-12T04:49:51.485" v="311" actId="27636"/>
        <pc:sldMkLst>
          <pc:docMk/>
          <pc:sldMk cId="2178316820" sldId="256"/>
        </pc:sldMkLst>
        <pc:spChg chg="mod">
          <ac:chgData name="Santhosh Kumar C" userId="87dcde48-8664-4a63-b5cd-43d78052eb24" providerId="ADAL" clId="{353E8B16-E742-486F-8C04-A6E2C1B0DCFB}" dt="2026-03-12T04:43:26.848" v="16" actId="255"/>
          <ac:spMkLst>
            <pc:docMk/>
            <pc:sldMk cId="2178316820" sldId="256"/>
            <ac:spMk id="2" creationId="{D392C082-4783-3F0B-9EC6-25645937E192}"/>
          </ac:spMkLst>
        </pc:spChg>
        <pc:spChg chg="mod">
          <ac:chgData name="Santhosh Kumar C" userId="87dcde48-8664-4a63-b5cd-43d78052eb24" providerId="ADAL" clId="{353E8B16-E742-486F-8C04-A6E2C1B0DCFB}" dt="2026-03-12T04:49:51.485" v="311" actId="27636"/>
          <ac:spMkLst>
            <pc:docMk/>
            <pc:sldMk cId="2178316820" sldId="256"/>
            <ac:spMk id="3" creationId="{ACFEFCD3-3C75-35E2-D6EC-2AFC39620FD5}"/>
          </ac:spMkLst>
        </pc:spChg>
        <pc:spChg chg="mod">
          <ac:chgData name="Santhosh Kumar C" userId="87dcde48-8664-4a63-b5cd-43d78052eb24" providerId="ADAL" clId="{353E8B16-E742-486F-8C04-A6E2C1B0DCFB}" dt="2026-03-11T12:08:01.770" v="7" actId="2711"/>
          <ac:spMkLst>
            <pc:docMk/>
            <pc:sldMk cId="2178316820" sldId="256"/>
            <ac:spMk id="4" creationId="{83CB87B0-2C3A-FA84-0969-EAACF959DDFB}"/>
          </ac:spMkLst>
        </pc:spChg>
        <pc:spChg chg="mod">
          <ac:chgData name="Santhosh Kumar C" userId="87dcde48-8664-4a63-b5cd-43d78052eb24" providerId="ADAL" clId="{353E8B16-E742-486F-8C04-A6E2C1B0DCFB}" dt="2026-03-11T12:08:06.460" v="8" actId="2711"/>
          <ac:spMkLst>
            <pc:docMk/>
            <pc:sldMk cId="2178316820" sldId="256"/>
            <ac:spMk id="5" creationId="{8406C4D5-4260-EE20-5032-89C70841E0D2}"/>
          </ac:spMkLst>
        </pc:spChg>
        <pc:picChg chg="add mod">
          <ac:chgData name="Santhosh Kumar C" userId="87dcde48-8664-4a63-b5cd-43d78052eb24" providerId="ADAL" clId="{353E8B16-E742-486F-8C04-A6E2C1B0DCFB}" dt="2026-03-12T04:43:14.829" v="13" actId="14100"/>
          <ac:picMkLst>
            <pc:docMk/>
            <pc:sldMk cId="2178316820" sldId="256"/>
            <ac:picMk id="6" creationId="{CB474076-628F-3EFB-1343-490B0E773BE4}"/>
          </ac:picMkLst>
        </pc:picChg>
      </pc:sldChg>
      <pc:sldChg chg="modSp mod">
        <pc:chgData name="Santhosh Kumar C" userId="87dcde48-8664-4a63-b5cd-43d78052eb24" providerId="ADAL" clId="{353E8B16-E742-486F-8C04-A6E2C1B0DCFB}" dt="2026-03-12T04:48:59.547" v="277" actId="2710"/>
        <pc:sldMkLst>
          <pc:docMk/>
          <pc:sldMk cId="2683659159" sldId="257"/>
        </pc:sldMkLst>
        <pc:spChg chg="mod">
          <ac:chgData name="Santhosh Kumar C" userId="87dcde48-8664-4a63-b5cd-43d78052eb24" providerId="ADAL" clId="{353E8B16-E742-486F-8C04-A6E2C1B0DCFB}" dt="2026-03-11T12:07:48.114" v="6" actId="2711"/>
          <ac:spMkLst>
            <pc:docMk/>
            <pc:sldMk cId="2683659159" sldId="257"/>
            <ac:spMk id="2" creationId="{1F235BF5-1452-0F40-5060-BBF6D5B63974}"/>
          </ac:spMkLst>
        </pc:spChg>
        <pc:spChg chg="mod">
          <ac:chgData name="Santhosh Kumar C" userId="87dcde48-8664-4a63-b5cd-43d78052eb24" providerId="ADAL" clId="{353E8B16-E742-486F-8C04-A6E2C1B0DCFB}" dt="2026-03-12T04:48:59.547" v="277" actId="2710"/>
          <ac:spMkLst>
            <pc:docMk/>
            <pc:sldMk cId="2683659159" sldId="257"/>
            <ac:spMk id="3" creationId="{7B08A0E4-B4B7-4C97-19C6-AB43299E67F1}"/>
          </ac:spMkLst>
        </pc:spChg>
      </pc:sldChg>
      <pc:sldChg chg="modSp mod">
        <pc:chgData name="Santhosh Kumar C" userId="87dcde48-8664-4a63-b5cd-43d78052eb24" providerId="ADAL" clId="{353E8B16-E742-486F-8C04-A6E2C1B0DCFB}" dt="2026-03-12T04:49:12.033" v="278"/>
        <pc:sldMkLst>
          <pc:docMk/>
          <pc:sldMk cId="2897999778" sldId="258"/>
        </pc:sldMkLst>
        <pc:spChg chg="mod">
          <ac:chgData name="Santhosh Kumar C" userId="87dcde48-8664-4a63-b5cd-43d78052eb24" providerId="ADAL" clId="{353E8B16-E742-486F-8C04-A6E2C1B0DCFB}" dt="2026-03-12T04:45:01.225" v="29" actId="2711"/>
          <ac:spMkLst>
            <pc:docMk/>
            <pc:sldMk cId="2897999778" sldId="258"/>
            <ac:spMk id="2" creationId="{E6A128A0-978F-3912-AED8-E758C1208B21}"/>
          </ac:spMkLst>
        </pc:spChg>
        <pc:spChg chg="mod">
          <ac:chgData name="Santhosh Kumar C" userId="87dcde48-8664-4a63-b5cd-43d78052eb24" providerId="ADAL" clId="{353E8B16-E742-486F-8C04-A6E2C1B0DCFB}" dt="2026-03-12T04:49:12.033" v="278"/>
          <ac:spMkLst>
            <pc:docMk/>
            <pc:sldMk cId="2897999778" sldId="258"/>
            <ac:spMk id="3" creationId="{496989CE-3BFA-7AA3-FCC8-DA9D29AA8D80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18.886" v="65" actId="20577"/>
        <pc:sldMkLst>
          <pc:docMk/>
          <pc:sldMk cId="1303480564" sldId="259"/>
        </pc:sldMkLst>
        <pc:spChg chg="mod">
          <ac:chgData name="Santhosh Kumar C" userId="87dcde48-8664-4a63-b5cd-43d78052eb24" providerId="ADAL" clId="{353E8B16-E742-486F-8C04-A6E2C1B0DCFB}" dt="2026-03-12T04:45:18.886" v="65" actId="20577"/>
          <ac:spMkLst>
            <pc:docMk/>
            <pc:sldMk cId="1303480564" sldId="259"/>
            <ac:spMk id="2" creationId="{8F8961C5-9785-5F5D-A824-6D3D79C47162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38.243" v="90" actId="20577"/>
        <pc:sldMkLst>
          <pc:docMk/>
          <pc:sldMk cId="1380028328" sldId="260"/>
        </pc:sldMkLst>
        <pc:spChg chg="mod">
          <ac:chgData name="Santhosh Kumar C" userId="87dcde48-8664-4a63-b5cd-43d78052eb24" providerId="ADAL" clId="{353E8B16-E742-486F-8C04-A6E2C1B0DCFB}" dt="2026-03-12T04:45:38.243" v="90" actId="20577"/>
          <ac:spMkLst>
            <pc:docMk/>
            <pc:sldMk cId="1380028328" sldId="260"/>
            <ac:spMk id="2" creationId="{D67309D1-5FA4-C3B4-988B-19C978BABD67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47.446" v="92" actId="6549"/>
        <pc:sldMkLst>
          <pc:docMk/>
          <pc:sldMk cId="1055599157" sldId="261"/>
        </pc:sldMkLst>
        <pc:spChg chg="mod">
          <ac:chgData name="Santhosh Kumar C" userId="87dcde48-8664-4a63-b5cd-43d78052eb24" providerId="ADAL" clId="{353E8B16-E742-486F-8C04-A6E2C1B0DCFB}" dt="2026-03-12T04:45:47.446" v="92" actId="6549"/>
          <ac:spMkLst>
            <pc:docMk/>
            <pc:sldMk cId="1055599157" sldId="261"/>
            <ac:spMk id="2" creationId="{2C056090-75FC-2EC9-C6A4-C9D9BA5CE124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57.481" v="113" actId="20577"/>
        <pc:sldMkLst>
          <pc:docMk/>
          <pc:sldMk cId="3472156200" sldId="262"/>
        </pc:sldMkLst>
        <pc:spChg chg="mod">
          <ac:chgData name="Santhosh Kumar C" userId="87dcde48-8664-4a63-b5cd-43d78052eb24" providerId="ADAL" clId="{353E8B16-E742-486F-8C04-A6E2C1B0DCFB}" dt="2026-03-12T04:45:57.481" v="113" actId="20577"/>
          <ac:spMkLst>
            <pc:docMk/>
            <pc:sldMk cId="3472156200" sldId="262"/>
            <ac:spMk id="2" creationId="{2E75D0DE-F343-7DE5-EBEA-9FD0BC7374CA}"/>
          </ac:spMkLst>
        </pc:spChg>
      </pc:sldChg>
      <pc:sldChg chg="modSp add mod">
        <pc:chgData name="Santhosh Kumar C" userId="87dcde48-8664-4a63-b5cd-43d78052eb24" providerId="ADAL" clId="{353E8B16-E742-486F-8C04-A6E2C1B0DCFB}" dt="2026-03-12T04:46:14.494" v="129" actId="20577"/>
        <pc:sldMkLst>
          <pc:docMk/>
          <pc:sldMk cId="49571734" sldId="263"/>
        </pc:sldMkLst>
        <pc:spChg chg="mod">
          <ac:chgData name="Santhosh Kumar C" userId="87dcde48-8664-4a63-b5cd-43d78052eb24" providerId="ADAL" clId="{353E8B16-E742-486F-8C04-A6E2C1B0DCFB}" dt="2026-03-12T04:46:14.494" v="129" actId="20577"/>
          <ac:spMkLst>
            <pc:docMk/>
            <pc:sldMk cId="49571734" sldId="263"/>
            <ac:spMk id="2" creationId="{A58EEA52-A052-EF6E-B37A-CDFA7152C630}"/>
          </ac:spMkLst>
        </pc:spChg>
      </pc:sldChg>
      <pc:sldChg chg="modSp add mod">
        <pc:chgData name="Santhosh Kumar C" userId="87dcde48-8664-4a63-b5cd-43d78052eb24" providerId="ADAL" clId="{353E8B16-E742-486F-8C04-A6E2C1B0DCFB}" dt="2026-03-12T04:46:38.957" v="156" actId="313"/>
        <pc:sldMkLst>
          <pc:docMk/>
          <pc:sldMk cId="2214384354" sldId="264"/>
        </pc:sldMkLst>
        <pc:spChg chg="mod">
          <ac:chgData name="Santhosh Kumar C" userId="87dcde48-8664-4a63-b5cd-43d78052eb24" providerId="ADAL" clId="{353E8B16-E742-486F-8C04-A6E2C1B0DCFB}" dt="2026-03-12T04:46:38.957" v="156" actId="313"/>
          <ac:spMkLst>
            <pc:docMk/>
            <pc:sldMk cId="2214384354" sldId="264"/>
            <ac:spMk id="2" creationId="{5355786D-47F7-8FE9-D42F-90D307C4FD97}"/>
          </ac:spMkLst>
        </pc:spChg>
      </pc:sldChg>
      <pc:sldChg chg="add">
        <pc:chgData name="Santhosh Kumar C" userId="87dcde48-8664-4a63-b5cd-43d78052eb24" providerId="ADAL" clId="{353E8B16-E742-486F-8C04-A6E2C1B0DCFB}" dt="2026-03-12T04:46:41.835" v="157" actId="2890"/>
        <pc:sldMkLst>
          <pc:docMk/>
          <pc:sldMk cId="3169942119" sldId="265"/>
        </pc:sldMkLst>
      </pc:sldChg>
      <pc:sldChg chg="modSp add mod">
        <pc:chgData name="Santhosh Kumar C" userId="87dcde48-8664-4a63-b5cd-43d78052eb24" providerId="ADAL" clId="{353E8B16-E742-486F-8C04-A6E2C1B0DCFB}" dt="2026-03-12T04:47:04.619" v="180" actId="20577"/>
        <pc:sldMkLst>
          <pc:docMk/>
          <pc:sldMk cId="3442820598" sldId="266"/>
        </pc:sldMkLst>
        <pc:spChg chg="mod">
          <ac:chgData name="Santhosh Kumar C" userId="87dcde48-8664-4a63-b5cd-43d78052eb24" providerId="ADAL" clId="{353E8B16-E742-486F-8C04-A6E2C1B0DCFB}" dt="2026-03-12T04:47:04.619" v="180" actId="20577"/>
          <ac:spMkLst>
            <pc:docMk/>
            <pc:sldMk cId="3442820598" sldId="266"/>
            <ac:spMk id="2" creationId="{4213388F-FF35-2D83-4D3B-039D6B5A0972}"/>
          </ac:spMkLst>
        </pc:spChg>
      </pc:sldChg>
      <pc:sldChg chg="modSp add mod">
        <pc:chgData name="Santhosh Kumar C" userId="87dcde48-8664-4a63-b5cd-43d78052eb24" providerId="ADAL" clId="{353E8B16-E742-486F-8C04-A6E2C1B0DCFB}" dt="2026-03-12T04:47:15.970" v="196" actId="20577"/>
        <pc:sldMkLst>
          <pc:docMk/>
          <pc:sldMk cId="901834013" sldId="267"/>
        </pc:sldMkLst>
        <pc:spChg chg="mod">
          <ac:chgData name="Santhosh Kumar C" userId="87dcde48-8664-4a63-b5cd-43d78052eb24" providerId="ADAL" clId="{353E8B16-E742-486F-8C04-A6E2C1B0DCFB}" dt="2026-03-12T04:47:15.970" v="196" actId="20577"/>
          <ac:spMkLst>
            <pc:docMk/>
            <pc:sldMk cId="901834013" sldId="267"/>
            <ac:spMk id="2" creationId="{4155D1A6-9E48-6BC3-2E99-BD8D4E964467}"/>
          </ac:spMkLst>
        </pc:spChg>
      </pc:sldChg>
      <pc:sldChg chg="modSp add mod">
        <pc:chgData name="Santhosh Kumar C" userId="87dcde48-8664-4a63-b5cd-43d78052eb24" providerId="ADAL" clId="{353E8B16-E742-486F-8C04-A6E2C1B0DCFB}" dt="2026-03-12T04:48:05.408" v="246" actId="255"/>
        <pc:sldMkLst>
          <pc:docMk/>
          <pc:sldMk cId="3711030567" sldId="268"/>
        </pc:sldMkLst>
        <pc:spChg chg="mod">
          <ac:chgData name="Santhosh Kumar C" userId="87dcde48-8664-4a63-b5cd-43d78052eb24" providerId="ADAL" clId="{353E8B16-E742-486F-8C04-A6E2C1B0DCFB}" dt="2026-03-12T04:47:24.203" v="207" actId="20577"/>
          <ac:spMkLst>
            <pc:docMk/>
            <pc:sldMk cId="3711030567" sldId="268"/>
            <ac:spMk id="2" creationId="{44A6D766-50C1-4B7C-E796-F3067CC34656}"/>
          </ac:spMkLst>
        </pc:spChg>
        <pc:spChg chg="mod">
          <ac:chgData name="Santhosh Kumar C" userId="87dcde48-8664-4a63-b5cd-43d78052eb24" providerId="ADAL" clId="{353E8B16-E742-486F-8C04-A6E2C1B0DCFB}" dt="2026-03-12T04:48:05.408" v="246" actId="255"/>
          <ac:spMkLst>
            <pc:docMk/>
            <pc:sldMk cId="3711030567" sldId="268"/>
            <ac:spMk id="3" creationId="{A2067BF4-5141-EA81-9E2C-1D1B8928214F}"/>
          </ac:spMkLst>
        </pc:spChg>
      </pc:sldChg>
      <pc:sldChg chg="modSp add mod">
        <pc:chgData name="Santhosh Kumar C" userId="87dcde48-8664-4a63-b5cd-43d78052eb24" providerId="ADAL" clId="{353E8B16-E742-486F-8C04-A6E2C1B0DCFB}" dt="2026-03-12T04:47:36.580" v="218" actId="20577"/>
        <pc:sldMkLst>
          <pc:docMk/>
          <pc:sldMk cId="880114808" sldId="269"/>
        </pc:sldMkLst>
        <pc:spChg chg="mod">
          <ac:chgData name="Santhosh Kumar C" userId="87dcde48-8664-4a63-b5cd-43d78052eb24" providerId="ADAL" clId="{353E8B16-E742-486F-8C04-A6E2C1B0DCFB}" dt="2026-03-12T04:47:36.580" v="218" actId="20577"/>
          <ac:spMkLst>
            <pc:docMk/>
            <pc:sldMk cId="880114808" sldId="269"/>
            <ac:spMk id="2" creationId="{93631787-BEB0-6CE3-A1C7-2092210922DF}"/>
          </ac:spMkLst>
        </pc:spChg>
      </pc:sldChg>
      <pc:sldChg chg="add">
        <pc:chgData name="Santhosh Kumar C" userId="87dcde48-8664-4a63-b5cd-43d78052eb24" providerId="ADAL" clId="{353E8B16-E742-486F-8C04-A6E2C1B0DCFB}" dt="2026-03-12T04:51:30.571" v="312" actId="2890"/>
        <pc:sldMkLst>
          <pc:docMk/>
          <pc:sldMk cId="3051079905" sldId="270"/>
        </pc:sldMkLst>
      </pc:sldChg>
      <pc:sldChg chg="modSp add mod">
        <pc:chgData name="Santhosh Kumar C" userId="87dcde48-8664-4a63-b5cd-43d78052eb24" providerId="ADAL" clId="{353E8B16-E742-486F-8C04-A6E2C1B0DCFB}" dt="2026-03-12T04:51:56.920" v="338" actId="20577"/>
        <pc:sldMkLst>
          <pc:docMk/>
          <pc:sldMk cId="1151011599" sldId="271"/>
        </pc:sldMkLst>
        <pc:spChg chg="mod">
          <ac:chgData name="Santhosh Kumar C" userId="87dcde48-8664-4a63-b5cd-43d78052eb24" providerId="ADAL" clId="{353E8B16-E742-486F-8C04-A6E2C1B0DCFB}" dt="2026-03-12T04:51:56.920" v="338" actId="20577"/>
          <ac:spMkLst>
            <pc:docMk/>
            <pc:sldMk cId="1151011599" sldId="271"/>
            <ac:spMk id="2" creationId="{2CEC8812-C937-B75E-CFCC-09C8F3A1EDD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1527-CF75-4ADD-964D-23824D0C4D4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11F4-993D-4EA1-B926-BC56BD08B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22C2-4810-46D2-89A2-14EBC0D40961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DE86-EDAA-4F84-8673-E7BB0683A4F7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5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9BE-13B1-4CC6-B136-BCD44CD778BD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6883-6448-457C-B56F-E31A4C82733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16C9-4412-4B42-8150-7782C059C0A5}" type="datetime1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5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EB682-B852-4724-B44C-52FB3AA0E5E8}" type="datetime1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49F2-F942-4B20-AFC5-0E3AD4B7694F}" type="datetime1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7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4F94-2DD5-4CDE-BF50-493F2A3266D7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F964-07F3-48B0-9FEC-183785D2821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74B32-A9E9-4276-83A7-902B7F400383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84DC-9173-4658-B3EA-269020D94500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857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9383"/>
            <a:ext cx="12191999" cy="1655762"/>
          </a:xfrm>
        </p:spPr>
        <p:txBody>
          <a:bodyPr>
            <a:normAutofit/>
          </a:bodyPr>
          <a:lstStyle/>
          <a:p>
            <a:r>
              <a:t>SmartCattle: AI-Driven Cattle Health Monitoring, Anomaly Detection &amp; Veterinary Tele-Triage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E601AF6C-F3EB-977E-9DB3-2754D737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93671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3CB87B0-2C3A-FA84-0969-EAACF959DDFB}"/>
              </a:ext>
            </a:extLst>
          </p:cNvPr>
          <p:cNvSpPr txBox="1"/>
          <p:nvPr/>
        </p:nvSpPr>
        <p:spPr>
          <a:xfrm>
            <a:off x="445477" y="5158617"/>
            <a:ext cx="3516923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/ Mr. / Ms. Guide Name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406C4D5-4260-EE20-5032-89C70841E0D2}"/>
              </a:ext>
            </a:extLst>
          </p:cNvPr>
          <p:cNvSpPr txBox="1"/>
          <p:nvPr/>
        </p:nvSpPr>
        <p:spPr>
          <a:xfrm>
            <a:off x="7748954" y="5158617"/>
            <a:ext cx="4088718" cy="147732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Members: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 (Register #)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Student2 (Register #)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Student3 (Register #)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Student4 (Register #)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B474076-628F-3EFB-1343-490B0E7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235BF5-1452-0F40-5060-BBF6D5B6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08A0E4-B4B7-4C97-19C6-AB43299E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b="1" sz="1400">
                <a:solidFill>
                  <a:srgbClr val="0F172A"/>
                </a:solidFill>
              </a:rPr>
              <a:t>Core Problem: </a:t>
            </a:r>
            <a:r>
              <a:rPr b="0" sz="1400">
                <a:solidFill>
                  <a:srgbClr val="334155"/>
                </a:solidFill>
              </a:rPr>
              <a:t>Delayed detection of bovine illnesses (e.g., Mastitis, Ketosis) causes significant milk loss, high treatment costs, and herd mortality in rural dairy farming.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Proposed Solution: </a:t>
            </a:r>
            <a:r>
              <a:rPr b="0" sz="1400">
                <a:solidFill>
                  <a:srgbClr val="334155"/>
                </a:solidFill>
              </a:rPr>
              <a:t>SmartCattle is an end-to-end web platform combining daily physiological telemetry logging, an automated 3-stage ML health engine, and instant veterinary tele-triage.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Automated CHDI Metric: </a:t>
            </a:r>
            <a:r>
              <a:rPr b="0" sz="1400">
                <a:solidFill>
                  <a:srgbClr val="334155"/>
                </a:solidFill>
              </a:rPr>
              <a:t>Introduces the Cattle Health Deviation Index (CHDI, 0-100 score) using 7-day rolling baselines to detect subtle anomalies 24-48 hours before visible symptoms.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Doctor-in-the-Loop: </a:t>
            </a:r>
            <a:r>
              <a:rPr b="0" sz="1400">
                <a:solidFill>
                  <a:srgbClr val="334155"/>
                </a:solidFill>
              </a:rPr>
              <a:t>Incorporates verified veterinary diagnosis feedback to continuously retrain and calibrate machine learning models, achieving 89.8% F1-score accuracy.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Real-world Impact: </a:t>
            </a:r>
            <a:r>
              <a:rPr b="0" sz="1400">
                <a:solidFill>
                  <a:srgbClr val="334155"/>
                </a:solidFill>
              </a:rPr>
              <a:t>Connects smallholder farmers directly to assigned district veterinarians, streamlining triage and reducing prescription turnaround to under 2 hours.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EECAC99-F55F-638C-3095-FC6C74D6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B08EF-4B33-492B-AA33-D3BC419B1759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BBB4F7-214D-32C8-2ACB-F479653B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65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A128A0-978F-3912-AED8-E758C120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6989CE-3BFA-7AA3-FCC8-DA9D29AA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b="1" sz="1400">
                <a:solidFill>
                  <a:srgbClr val="0F172A"/>
                </a:solidFill>
              </a:rPr>
              <a:t>Dairy Farming Significance: </a:t>
            </a:r>
            <a:r>
              <a:rPr b="0" sz="1400">
                <a:solidFill>
                  <a:srgbClr val="334155"/>
                </a:solidFill>
              </a:rPr>
              <a:t>Livestock and dairy farming form the financial backbone of rural economies, requiring continuous monitoring of herd productivity and health.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The Diagnostic Gap: </a:t>
            </a:r>
            <a:r>
              <a:rPr b="0" sz="1400">
                <a:solidFill>
                  <a:srgbClr val="334155"/>
                </a:solidFill>
              </a:rPr>
              <a:t>Smallholder farmers currently rely on visual signs of illness (fever, behavioral lethargy), which only appear in advanced, severe clinical stages.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Veterinary Distance &amp; Delay: </a:t>
            </a:r>
            <a:r>
              <a:rPr b="0" sz="1400">
                <a:solidFill>
                  <a:srgbClr val="334155"/>
                </a:solidFill>
              </a:rPr>
              <a:t>Rural farmers experience delayed veterinary access, leading to unguided antibiotic usage or irreversible loss of cattle lactation.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The SmartCattle Vision: </a:t>
            </a:r>
            <a:r>
              <a:rPr b="0" sz="1400">
                <a:solidFill>
                  <a:srgbClr val="334155"/>
                </a:solidFill>
              </a:rPr>
              <a:t>A modern, accessible digital health record and decision-support system that provides proactive health alerts and bridges farmers with certified district veterinarians.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7060253-485B-A551-20D4-2831B7AF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FFA2-BF4E-4986-8EDC-B62F31D50825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086A39-8288-5B56-EB37-ED1CF52E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9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445CE57-A437-995E-40EC-33205D8F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8961C5-9785-5F5D-A824-6D3D79C4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/ 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B7DB1B-800E-88D9-7E0A-B78ED9D8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Existing Practice: </a:t>
            </a:r>
            <a:r>
              <a:rPr b="0" sz="1400">
                <a:solidFill>
                  <a:srgbClr val="334155"/>
                </a:solidFill>
              </a:rPr>
              <a:t>Manual, subjective visual observation of cattle by farm workers without continuous numerical tracking.</a:t>
            </a:r>
            <a:endParaRPr lang="en-IN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Isolated IoT Sensors: </a:t>
            </a:r>
            <a:r>
              <a:rPr b="0" sz="1400">
                <a:solidFill>
                  <a:srgbClr val="334155"/>
                </a:solidFill>
              </a:rPr>
              <a:t>Existing academic IoT collars are capital-intensive, fragile for small farms, and lack integrated veterinarian diagnostic workflows.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Static Threshold Alarms: </a:t>
            </a:r>
            <a:r>
              <a:rPr b="0" sz="1400">
                <a:solidFill>
                  <a:srgbClr val="334155"/>
                </a:solidFill>
              </a:rPr>
              <a:t>Standard rules use static global thresholds (e.g., fixed body temperature) that ignore breed differences, lactation phases, and individual baselines.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Drawbacks of Current Systems: </a:t>
            </a:r>
            <a:r>
              <a:rPr b="0" sz="1400">
                <a:solidFill>
                  <a:srgbClr val="334155"/>
                </a:solidFill>
              </a:rPr>
              <a:t>High rate of false alarms, reactive rather than preventive care, lack of electronic prescription tracking, and zero feedback loop between vets and AI models.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EF5A9CA-4E21-9C6A-37FE-DBC72542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DAD1B-2C4A-45CA-8ED9-F88A03D644DC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C87E7A-B989-2083-5B23-0F82EB1D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48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8EAE8B-1AC6-981A-4156-2D634D2B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7309D1-5FA4-C3B4-988B-19C978BA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1AEF3E-DBE8-5902-C8F9-2B8530C0D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Personalized Health Scoring: </a:t>
            </a:r>
            <a:r>
              <a:rPr b="0" sz="1400">
                <a:solidFill>
                  <a:srgbClr val="334155"/>
                </a:solidFill>
              </a:rPr>
              <a:t>Develop the Cattle Health Deviation Index (CHDI) based on individual 7-day rolling baselines for milk yield, temperature, feed intake, and activity.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Multi-Stage AI Engine: </a:t>
            </a:r>
            <a:r>
              <a:rPr b="0" sz="1400">
                <a:solidFill>
                  <a:srgbClr val="334155"/>
                </a:solidFill>
              </a:rPr>
              <a:t>Implement a 3-Stage analytical pipeline: Baseline Forecasting, Anomaly Detection, and Doctor Feedback Calibration.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Regional Tele-Triage System: </a:t>
            </a:r>
            <a:r>
              <a:rPr b="0" sz="1400">
                <a:solidFill>
                  <a:srgbClr val="334155"/>
                </a:solidFill>
              </a:rPr>
              <a:t>Enable one-click emergency triage dispatch from farmers to local district veterinarians with priority sorting (Critical, High, Routine).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Auditable Health &amp; Treatment Records: </a:t>
            </a:r>
            <a:r>
              <a:rPr b="0" sz="1400">
                <a:solidFill>
                  <a:srgbClr val="334155"/>
                </a:solidFill>
              </a:rPr>
              <a:t>Provide comprehensive digital livestock records including case history, clinical diagnosis notes, electronic prescriptions, and vaccination schedules.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Adaptive Machine Learning: </a:t>
            </a:r>
            <a:r>
              <a:rPr b="0" sz="1400">
                <a:solidFill>
                  <a:srgbClr val="334155"/>
                </a:solidFill>
              </a:rPr>
              <a:t>Establish an active doctor-in-the-loop retraining mechanism to continuously adapt AI alert sensitivity as more field cases are treated.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C7E554-0833-5491-3ECD-D22DD91B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ACDF-E38B-4624-AF1A-F523D2494E60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C51192-1B20-075D-6590-99B6D982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2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A5E0C78-97D6-596B-5322-9AF9F902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056090-75FC-2EC9-C6A4-C9D9BA5C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F670E6-CC87-0FC5-F81A-CECDF1395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Holistic Dairy Ecosystem: </a:t>
            </a:r>
            <a:r>
              <a:rPr b="0" sz="1400">
                <a:solidFill>
                  <a:srgbClr val="334155"/>
                </a:solidFill>
              </a:rPr>
              <a:t>Integrated tripartite platform serving Dairy Farmers, Certified District Veterinarians, and Administrative Overseers.</a:t>
            </a:r>
            <a:endParaRPr lang="en-IN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Automated Early Warning: </a:t>
            </a:r>
            <a:r>
              <a:rPr b="0" sz="1400">
                <a:solidFill>
                  <a:srgbClr val="334155"/>
                </a:solidFill>
              </a:rPr>
              <a:t>Computes composite CHDI score instantly upon daily vitals submission, flagging deviating signals (e.g., sudden milk drop or temperature elevation).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Priority Triage Queue: </a:t>
            </a:r>
            <a:r>
              <a:rPr b="0" sz="1400">
                <a:solidFill>
                  <a:srgbClr val="334155"/>
                </a:solidFill>
              </a:rPr>
              <a:t>Veterinarians receive an intelligent clinical queue highlighting urgent and critical cases with complete physiological history.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Direct Doctor-Farmer Collaboration: </a:t>
            </a:r>
            <a:r>
              <a:rPr b="0" sz="1400">
                <a:solidFill>
                  <a:srgbClr val="334155"/>
                </a:solidFill>
              </a:rPr>
              <a:t>Farmers can choose their preferred local doctor; vets provide verified digital diagnoses and tailored medicinal regimens.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Closed-Loop Calibration: </a:t>
            </a:r>
            <a:r>
              <a:rPr b="0" sz="1400">
                <a:solidFill>
                  <a:srgbClr val="334155"/>
                </a:solidFill>
              </a:rPr>
              <a:t>Veterinary clinical findings feed back into the AI calibration engine to refine anomaly detection thresholds automatically.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2DC8AD5-BB8C-D550-A08B-B7C92A0D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45AE-77CA-4A42-9883-3E5577E109F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BB344B-3531-940F-A917-A6236C85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59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FA9011C-DA38-8047-DA14-9FC27193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5D0DE-F343-7DE5-EBEA-9FD0BC7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91BF37-F596-F10C-2E9B-F5907A451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Presentation Layer: </a:t>
            </a:r>
            <a:r>
              <a:rPr b="0" sz="1400">
                <a:solidFill>
                  <a:srgbClr val="334155"/>
                </a:solidFill>
              </a:rPr>
              <a:t>Responsive Web Interface built with Next.js 16 (React 19 &amp; Tailwind CSS), featuring dedicated Farmer, Vet, and Admin portals.</a:t>
            </a:r>
            <a:endParaRPr lang="en-IN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Application &amp; Business Logic Layer: </a:t>
            </a:r>
            <a:r>
              <a:rPr b="0" sz="1400">
                <a:solidFill>
                  <a:srgbClr val="334155"/>
                </a:solidFill>
              </a:rPr>
              <a:t>Next.js API routes with Role-Based Access Control (RBAC), JWT authentication, triage dispatcher, and prescription manager.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CHDI Health &amp; Anomaly Engine: </a:t>
            </a:r>
            <a:r>
              <a:rPr b="0" sz="1400">
                <a:solidFill>
                  <a:srgbClr val="334155"/>
                </a:solidFill>
              </a:rPr>
              <a:t>Statistical deviation algorithms computing moving averages, variance normalization, and multi-signal risk matrices.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Stage 3 Machine Learning Engine: </a:t>
            </a:r>
            <a:r>
              <a:rPr b="0" sz="1400">
                <a:solidFill>
                  <a:srgbClr val="334155"/>
                </a:solidFill>
              </a:rPr>
              <a:t>Scikit-learn classification models (Random Forest / Gradient Boosting) retrained on accumulated veterinary feedback.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Persistence Layer: </a:t>
            </a:r>
            <a:r>
              <a:rPr b="0" sz="1400">
                <a:solidFill>
                  <a:srgbClr val="334155"/>
                </a:solidFill>
              </a:rPr>
              <a:t>PostgreSQL database (Neon Serverless) managed via Prisma ORM for relational integrity across cattle, health logs, cases, and feedback.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46687F4-97AD-2F5A-8CF2-BD38254D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D6-2F1E-480A-8F89-720905B0F7C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0AE8C64-5FF9-3AF6-80AF-E355FE89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15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15142E-952D-6356-14F0-32CB3E4D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8EEA52-A052-EF6E-B37A-CDFA7152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D8AEE9-9097-4CE7-EB01-7AACA7759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Frontend Framework: </a:t>
            </a:r>
            <a:r>
              <a:rPr b="0" sz="1400">
                <a:solidFill>
                  <a:srgbClr val="334155"/>
                </a:solidFill>
              </a:rPr>
              <a:t>Next.js 16 (App Router, Server Components, Turbopack) &amp; React 19 for real-time, high-performance UI rendering.</a:t>
            </a:r>
            <a:endParaRPr lang="en-IN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Styling &amp; Design System: </a:t>
            </a:r>
            <a:r>
              <a:rPr b="0" sz="1400">
                <a:solidFill>
                  <a:srgbClr val="334155"/>
                </a:solidFill>
              </a:rPr>
              <a:t>Tailwind CSS with utilitarian layouts, accessible contrast, responsive tables, and mobile-ready farm monitoring cards.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Backend Architecture: </a:t>
            </a:r>
            <a:r>
              <a:rPr b="0" sz="1400">
                <a:solidFill>
                  <a:srgbClr val="334155"/>
                </a:solidFill>
              </a:rPr>
              <a:t>Node.js Serverless Edge/API Routes handling RESTful endpoints for telemetry ingestion, triage routing, and model calibration.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Database &amp; ORM: </a:t>
            </a:r>
            <a:r>
              <a:rPr b="0" sz="1400">
                <a:solidFill>
                  <a:srgbClr val="334155"/>
                </a:solidFill>
              </a:rPr>
              <a:t>PostgreSQL (Neon Cloud DB) utilizing Prisma ORM with strict type safety, schema migrations, and relational indexing.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Machine Learning &amp; Analytics: </a:t>
            </a:r>
            <a:r>
              <a:rPr b="0" sz="1400">
                <a:solidFill>
                  <a:srgbClr val="334155"/>
                </a:solidFill>
              </a:rPr>
              <a:t>Python 3, Scikit-learn (RandomForestClassifier, LogisticRegression), NumPy, and Pandas for telemetry feature processing.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Security &amp; Authentication: </a:t>
            </a:r>
            <a:r>
              <a:rPr b="0" sz="1400">
                <a:solidFill>
                  <a:srgbClr val="334155"/>
                </a:solidFill>
              </a:rPr>
              <a:t>Bcrypt password hashing, JSON Web Tokens (JWT) with HTTP-only cookies, and server-side role validation.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6B06763-B5E8-5369-5FE7-E74BC835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223C-C5A4-4857-AF3A-F0B87F03BBEE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2DCF371-7C57-F90F-5F29-6B980CD6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7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41F760-B533-946A-8D3D-CD874A28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55786D-47F7-8FE9-D42F-90D307C4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DC1A92-957D-D44D-62EB-6383381E8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Cattle Registry &amp; Profiles: </a:t>
            </a:r>
            <a:r>
              <a:rPr b="0" sz="1400">
                <a:solidFill>
                  <a:srgbClr val="334155"/>
                </a:solidFill>
              </a:rPr>
              <a:t>Unique ear tag identification (e.g., TN-SC-3608), breed profiling (HF Cross, Jersey, Kangayam), lactation stage, and birth records.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Daily Telemetry &amp; Vitals Logging: </a:t>
            </a:r>
            <a:r>
              <a:rPr b="0" sz="1400">
                <a:solidFill>
                  <a:srgbClr val="334155"/>
                </a:solidFill>
              </a:rPr>
              <a:t>Simple daily input forms for body temperature, morning/evening milk yield (L), feed intake (kg), rumination hours, and symptoms.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Live CHDI Status Visualization: </a:t>
            </a:r>
            <a:r>
              <a:rPr b="0" sz="1400">
                <a:solidFill>
                  <a:srgbClr val="334155"/>
                </a:solidFill>
              </a:rPr>
              <a:t>Color-coded health badges: Green (Healthy &gt;=70), Yellow (Needs Attention 50-69), and Red (Critical &lt;50) with deviating vital indicators.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One-Click Tele-Triage Dispatch: </a:t>
            </a:r>
            <a:r>
              <a:rPr b="0" sz="1400">
                <a:solidFill>
                  <a:srgbClr val="334155"/>
                </a:solidFill>
              </a:rPr>
              <a:t>Farmers can request vet review, select their preferred district doctor or auto-assign the first available local veterinarian.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2AF3D12-B7A4-C89B-DAF7-28676EF5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C006E-755B-48A1-AF56-5DC5A20499E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61A2B7-95BE-4D6B-2E42-F0177E96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8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9348A8-972C-20A2-78D7-A46CC8B1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680957-E354-94CD-F453-B0FE8F60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3F7C9B-51F3-84A5-9573-727F1B0F0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Urgent Triage &amp; Clinical Queue: </a:t>
            </a:r>
            <a:r>
              <a:rPr b="0" sz="1400">
                <a:solidFill>
                  <a:srgbClr val="334155"/>
                </a:solidFill>
              </a:rPr>
              <a:t>Veterinarian dashboard sorting active cases into Critical, High, and Routine queues with instant access to cattle vitals history.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Diagnosis &amp; E-Prescription Portal: </a:t>
            </a:r>
            <a:r>
              <a:rPr b="0" sz="1400">
                <a:solidFill>
                  <a:srgbClr val="334155"/>
                </a:solidFill>
              </a:rPr>
              <a:t>Veterinarians log clinical diagnosis, prescribe specific medications with dosage, frequency, treatment duration, and farm instructions.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Regional Coverage &amp; Farm Assignment: </a:t>
            </a:r>
            <a:r>
              <a:rPr b="0" sz="1400">
                <a:solidFill>
                  <a:srgbClr val="334155"/>
                </a:solidFill>
              </a:rPr>
              <a:t>Admin module managing district coverage (Salem, Coimbatore, Erode) and mapping local veterinarians to regional farm clusters.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AI Calibration &amp; Retraining Console: </a:t>
            </a:r>
            <a:r>
              <a:rPr b="0" sz="1400">
                <a:solidFill>
                  <a:srgbClr val="334155"/>
                </a:solidFill>
              </a:rPr>
              <a:t>Interactive admin workbench monitoring Stage 1-3 model health, triggering active retraining with doctor ground truth logs.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652F03-70B3-B587-0E05-270D59D7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14F8-A136-414E-BB44-8FDC063D854C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B5EA384-8E9A-FDD7-FB8B-046737A7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4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CBD0A9-BCF3-4985-177E-582E4C99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13388F-FF35-2D83-4D3B-039D6B5A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40B2D9F-E603-08EB-8165-CC3644C8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Subclinical Detection Lead Time: </a:t>
            </a:r>
            <a:r>
              <a:rPr b="0" sz="1400">
                <a:solidFill>
                  <a:srgbClr val="334155"/>
                </a:solidFill>
              </a:rPr>
              <a:t>CHDI successfully identified onset of Acute Mastitis and Ketosis 24 to 48 hours prior to acute visible physical symptoms.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Personalized Baseline Accuracy: </a:t>
            </a:r>
            <a:r>
              <a:rPr b="0" sz="1400">
                <a:solidFill>
                  <a:srgbClr val="334155"/>
                </a:solidFill>
              </a:rPr>
              <a:t>The 7-day rolling window eliminated false alerts triggered by natural high-yield vs. low-yield breed variations (HF vs. Kangayam).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Correlated Signal Sensitivity: </a:t>
            </a:r>
            <a:r>
              <a:rPr b="0" sz="1400">
                <a:solidFill>
                  <a:srgbClr val="334155"/>
                </a:solidFill>
              </a:rPr>
              <a:t>High sensitivity achieved by cross-checking concurrent signals (e.g., minor milk drop coupled with rumination depression and mild pyrexia).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Clinical Severity Stratification: </a:t>
            </a:r>
            <a:r>
              <a:rPr b="0" sz="1400">
                <a:solidFill>
                  <a:srgbClr val="334155"/>
                </a:solidFill>
              </a:rPr>
              <a:t>Accurately flagged severe cases (CHDI &lt; 40) directly to the veterinary queue, preventing systemic infection.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DEDFEF-F475-03C4-1D8A-E888FF68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4BE6-7FF4-4EB9-BE9E-DA698D9A81A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003E5D-FB8D-6CDD-2518-551277E6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82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3540F9B-8778-DEE5-81E7-F9FA2E9F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CECE46-BAAB-CAA4-05A8-372CB2C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F10ED9-48F5-4E63-455E-0D3C216EA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Adaptive Model Learning: </a:t>
            </a:r>
            <a:r>
              <a:rPr b="0" sz="1400">
                <a:solidFill>
                  <a:srgbClr val="334155"/>
                </a:solidFill>
              </a:rPr>
              <a:t>Successfully reached and activated Stage 3 feedback retraining threshold with 30+ verified doctor diagnosis logs.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Classification Performance: </a:t>
            </a:r>
            <a:r>
              <a:rPr b="0" sz="1400">
                <a:solidFill>
                  <a:srgbClr val="334155"/>
                </a:solidFill>
              </a:rPr>
              <a:t>Precision: 88.5% | Recall: 91.2% | Overall Accuracy (F1-Score): 89.8% on field-verified diagnostic cases.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False Positive Reduction: </a:t>
            </a:r>
            <a:r>
              <a:rPr b="0" sz="1400">
                <a:solidFill>
                  <a:srgbClr val="334155"/>
                </a:solidFill>
              </a:rPr>
              <a:t>Continuous doctor feedback reduced spurious alert rate by 42% compared to static uncalibrated threshold models.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Turnaround Optimization: </a:t>
            </a:r>
            <a:r>
              <a:rPr b="0" sz="1400">
                <a:solidFill>
                  <a:srgbClr val="334155"/>
                </a:solidFill>
              </a:rPr>
              <a:t>Reduced average emergency consultation time from 24-48 hours (physical visit delay) to under 2 hours via electronic tele-triage.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AFA26E-B422-E60D-0452-51DAD617A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4BE6-7FF4-4EB9-BE9E-DA698D9A81A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E90F96-35BF-2730-7397-E3BDBA39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07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134D6E0-C66F-3EE3-EF78-9A8444C47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55D1A6-9E48-6BC3-2E99-BD8D4E96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B73C54-DB00-C191-B8C5-01B0C982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Farmer Livestock Dashboard: </a:t>
            </a:r>
            <a:r>
              <a:rPr b="0" sz="1400">
                <a:solidFill>
                  <a:srgbClr val="334155"/>
                </a:solidFill>
              </a:rPr>
              <a:t>Real-time herd health overview, CHDI status scores, daily production logs, and active alert notifications.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Cattle Diagnostic Profile: </a:t>
            </a:r>
            <a:r>
              <a:rPr b="0" sz="1400">
                <a:solidFill>
                  <a:srgbClr val="334155"/>
                </a:solidFill>
              </a:rPr>
              <a:t>Historical vital trend charts, deviating health signals, previous treatments, and pending doctor checkup requests.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Veterinarian Clinical Triage Queue: </a:t>
            </a:r>
            <a:r>
              <a:rPr b="0" sz="1400">
                <a:solidFill>
                  <a:srgbClr val="334155"/>
                </a:solidFill>
              </a:rPr>
              <a:t>Prioritized queue with severity flags (Critical/Urgent), farmer contact details, and one-click clinical consultation modal.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Admin AI Calibration &amp; Version History: </a:t>
            </a:r>
            <a:r>
              <a:rPr b="0" sz="1400">
                <a:solidFill>
                  <a:srgbClr val="334155"/>
                </a:solidFill>
              </a:rPr>
              <a:t>3-Stage model performance indicators, active retraining triggers, and version-controlled model snapshots (v1.2.0-rf).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C6D207-EA2F-9361-FF07-A295D75C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3B7E-D7B4-42B0-A405-0E78122C139B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F76078D-E05A-668D-D7D3-6EAEA601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83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4012E9-73A7-647D-3072-2B780BE8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A6D766-50C1-4B7C-E796-F3067CC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067BF4-5141-EA81-9E2C-1D1B8928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Project Conclusion: </a:t>
            </a:r>
            <a:r>
              <a:rPr b="0" sz="1400">
                <a:solidFill>
                  <a:srgbClr val="334155"/>
                </a:solidFill>
              </a:rPr>
              <a:t>SmartCattle successfully demonstrates an accessible, intelligent digital health platform that bridges the gap between rural dairy farmers and veterinary care.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Proven Value: </a:t>
            </a:r>
            <a:r>
              <a:rPr b="0" sz="1400">
                <a:solidFill>
                  <a:srgbClr val="334155"/>
                </a:solidFill>
              </a:rPr>
              <a:t>Personalized CHDI scoring combined with closed-loop AI retraining provides reliable early warning, preserving livestock life and farm profitability.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Future Enhancement 1 - Direct IoT Collar Integration: </a:t>
            </a:r>
            <a:r>
              <a:rPr b="0" sz="1400">
                <a:solidFill>
                  <a:srgbClr val="334155"/>
                </a:solidFill>
              </a:rPr>
              <a:t>Automated telemetry ingestion via wireless LoRaWAN / Bluetooth Low Energy (BLE) rumen and neck collars.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Future Enhancement 2 - Computer Vision Diagnostics: </a:t>
            </a:r>
            <a:r>
              <a:rPr b="0" sz="1400">
                <a:solidFill>
                  <a:srgbClr val="334155"/>
                </a:solidFill>
              </a:rPr>
              <a:t>Mobile photo scanning for cattle facial distress recognition, hoof lameness scoring, and skin lesion classification.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Future Enhancement 3 - Regional Voice Interface: </a:t>
            </a:r>
            <a:r>
              <a:rPr b="0" sz="1400">
                <a:solidFill>
                  <a:srgbClr val="334155"/>
                </a:solidFill>
              </a:rPr>
              <a:t>Multilingual voice-to-text logging in regional languages (e.g., Tamil, Hindi) for simplified rural farmer data entry.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DBC3F86-DD42-61B4-D19F-D4288317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93241-78CD-41FD-9FFF-E158D31A3E1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D15FAC0-2EAA-8E1B-B250-FA256F78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30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7E7940F-6B4F-C560-ED57-2FC151C2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631787-BEB0-6CE3-A1C7-20922109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6847C7-1DE7-0718-9A7E-0B29AC1A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Precision Dairy Farming: </a:t>
            </a:r>
            <a:r>
              <a:rPr b="0" sz="1400">
                <a:solidFill>
                  <a:srgbClr val="334155"/>
                </a:solidFill>
              </a:rPr>
              <a:t>Bewley, J. M. (2010). 'Precision dairy farming: Advanced analysis solutions for dairy cattle.' Journal of Dairy Science, 93(2), 567-578.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IoT Livestock Telemetry: </a:t>
            </a:r>
            <a:r>
              <a:rPr b="0" sz="1400">
                <a:solidFill>
                  <a:srgbClr val="334155"/>
                </a:solidFill>
              </a:rPr>
              <a:t>Neethirajan, S. (2017). 'Recent advances in wearable sensors for animal health management.' Sensing and Bio-Sensing Research, 12, 15-29.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Machine Learning in Mastitis Detection: </a:t>
            </a:r>
            <a:r>
              <a:rPr b="0" sz="1400">
                <a:solidFill>
                  <a:srgbClr val="334155"/>
                </a:solidFill>
              </a:rPr>
              <a:t>Cavero, D., et al. (2006). 'Mastitis detection in dairy cows using decision tree induction and neural networks.' Computers and Electronics in Agriculture, 52(1), 1-14.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Veterinary Decision Support Systems: </a:t>
            </a:r>
            <a:r>
              <a:rPr b="0" sz="1400">
                <a:solidFill>
                  <a:srgbClr val="334155"/>
                </a:solidFill>
              </a:rPr>
              <a:t>Rutten, C. J., et al. (2013). 'Invited review: Sensors to support health monitoring on dairy farms.' Journal of Dairy Science, 96(4), 1928-1952.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Web &amp; Distributed Systems: </a:t>
            </a:r>
            <a:r>
              <a:rPr b="0" sz="1400">
                <a:solidFill>
                  <a:srgbClr val="334155"/>
                </a:solidFill>
              </a:rPr>
              <a:t>Modern Next.js Architecture and Serverless Edge Computing for Resilient Agricultural Healthcare Systems (2024).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1440F2-CF62-1E11-C943-BB918F82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6024-6B97-4464-B986-4FD2791A537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461EF9-FF3A-7AD8-3761-6A39C5B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1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C9D11D-8C69-02CD-0766-EE780E92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EC8812-C937-B75E-CFCC-09C8F3A1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Patent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C29A03-0D33-B23F-AA3C-AF4B3D8C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Proposed Research Publication: </a:t>
            </a:r>
            <a:r>
              <a:rPr b="0" sz="1400">
                <a:solidFill>
                  <a:srgbClr val="334155"/>
                </a:solidFill>
              </a:rPr>
              <a:t>'SmartCattle: An Adaptive Multi-Stage Machine Learning Framework and Veterinary Tele-Triage System for Subclinical Disease Detection in Dairy Cattle.'</a:t>
            </a:r>
            <a:endParaRPr lang="en-IN" dirty="0"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Target Journal / Conference: </a:t>
            </a:r>
            <a:r>
              <a:rPr b="0" sz="1400">
                <a:solidFill>
                  <a:srgbClr val="334155"/>
                </a:solidFill>
              </a:rPr>
              <a:t>Targeting IEEE Transactions on AgriFood Electronics / Elsevier Computers and Electronics in Agriculture.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Patent / Intellectual Property Scope: </a:t>
            </a:r>
            <a:r>
              <a:rPr b="0" sz="1400">
                <a:solidFill>
                  <a:srgbClr val="334155"/>
                </a:solidFill>
              </a:rPr>
              <a:t>'A System and Method for Adaptive Doctor-in-the-Loop Cattle Health Deviation Index (CHDI) Computation and Regional Veterinary Tele-Triage.'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Key Novelty Claim: </a:t>
            </a:r>
            <a:r>
              <a:rPr b="0" sz="1400">
                <a:solidFill>
                  <a:srgbClr val="334155"/>
                </a:solidFill>
              </a:rPr>
              <a:t>Dynamic combination of individual 7-day rolling physiological baseline normalization with doctor diagnostic feedback calibration to minimize false alarms in rural dairy herds.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2253636-7F02-E84F-18F8-109B7D7F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6024-6B97-4464-B986-4FD2791A537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D9E008-8C2B-C7F1-4A0C-60A54E0A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1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109</Words>
  <Application>Microsoft Office PowerPoint</Application>
  <PresentationFormat>Custom</PresentationFormat>
  <Paragraphs>63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Department of Information Technology</vt:lpstr>
      <vt:lpstr>Abstract</vt:lpstr>
      <vt:lpstr>Introduction</vt:lpstr>
      <vt:lpstr>Existing System / Literature Review</vt:lpstr>
      <vt:lpstr>Objective of the project work</vt:lpstr>
      <vt:lpstr>Proposed System</vt:lpstr>
      <vt:lpstr>Architecture Diagram</vt:lpstr>
      <vt:lpstr>Technology Used</vt:lpstr>
      <vt:lpstr>Module Description</vt:lpstr>
      <vt:lpstr>Module Description</vt:lpstr>
      <vt:lpstr>Results &amp; Discussion</vt:lpstr>
      <vt:lpstr>Results &amp; Discussion</vt:lpstr>
      <vt:lpstr>Screenshots</vt:lpstr>
      <vt:lpstr>Conclusion</vt:lpstr>
      <vt:lpstr>References</vt:lpstr>
      <vt:lpstr>Publication / Patent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Santhosh Kumar C</dc:creator>
  <cp:lastModifiedBy>Windows User</cp:lastModifiedBy>
  <cp:revision>3</cp:revision>
  <dcterms:created xsi:type="dcterms:W3CDTF">2026-03-11T11:49:07Z</dcterms:created>
  <dcterms:modified xsi:type="dcterms:W3CDTF">2026-10-30T08:27:49Z</dcterms:modified>
</cp:coreProperties>
</file>